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1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30047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2911804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84745989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2477152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7941867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7178663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315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6735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Welcome the panel. Introduce yourself and the title of the project: an AI-powered system that analyzes candidate expressions and engagement during video interviews using face detection. Mention this is your MCA final year project and briefly set expectations for the presentation flow.</a:t>
            </a:r>
            <a:endParaRPr lang="en-US"/>
          </a:p>
        </p:txBody>
      </p:sp>
      <p:sp>
        <p:nvSpPr>
          <p:cNvPr id="314361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5993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10114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Explain the motivation: interviews are subjective, and AI-based facial analysis can add an objective, data-driven layer to the process. Briefly describe what the system does at a high level before diving into the problem statement on the next slide.</a:t>
            </a:r>
            <a:endParaRPr lang="en-US"/>
          </a:p>
        </p:txBody>
      </p:sp>
      <p:sp>
        <p:nvSpPr>
          <p:cNvPr id="1498825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5834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3499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Walk through each problem: interviewer bias, absence of behavioural signals in traditional interviews, the limits of manual observation, and the lack of a structured, quantifiable report. This sets up why an automated face-detection based system is needed.</a:t>
            </a:r>
            <a:endParaRPr lang="en-US"/>
          </a:p>
        </p:txBody>
      </p:sp>
      <p:sp>
        <p:nvSpPr>
          <p:cNvPr id="1399802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8054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56549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List the five core objectives clearly: real-time face detection, emotion recognition, eye-contact and attention estimation, generating an objective report, and providing an easy-to-use interface. These map directly to the modules you will show later.</a:t>
            </a:r>
            <a:endParaRPr lang="en-US"/>
          </a:p>
        </p:txBody>
      </p:sp>
      <p:sp>
        <p:nvSpPr>
          <p:cNvPr id="1135320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739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4521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Introduce the technology stack: Python as the core language, MediaPipe for face landmark and expression detection, OpenCV for video handling, Streamlit for the web interface, and NumPy/Pandas for computation and reporting. Mention that the pipeline runs fully offline once set up.</a:t>
            </a:r>
            <a:endParaRPr lang="en-US"/>
          </a:p>
        </p:txBody>
      </p:sp>
      <p:sp>
        <p:nvSpPr>
          <p:cNvPr id="1511777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735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4868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Explain the end-to-end pipeline: video comes in from a webcam or file, MediaPipe detects the face, extracts landmarks and expression blendshapes, the analysis engine scores emotion/eye-contact/attention, and finally a report is generated. Emphasize that this is a modular design — each box is a separate, independently testable component in the codebase.</a:t>
            </a:r>
            <a:endParaRPr lang="en-US"/>
          </a:p>
        </p:txBody>
      </p:sp>
      <p:sp>
        <p:nvSpPr>
          <p:cNvPr id="64327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49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587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This is the simplified user-facing workflow: the interviewer starts a session (upload or live webcam), the system detects the face frame by frame, computes the key metrics continuously, and finally generates a report once the session ends.</a:t>
            </a:r>
            <a:endParaRPr lang="en-US"/>
          </a:p>
        </p:txBody>
      </p:sp>
      <p:sp>
        <p:nvSpPr>
          <p:cNvPr id="12510847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357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9027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 codebase is organized into six independent modules, mirroring the architecture diagram: a face detector, an emotion-scoring engine, a pose/gaze module for eye contact and attention, an aggregator that produces the final report, a video source handler, and the Streamlit web interface. This modular design made the project easier to test and extend.</a:t>
            </a:r>
            <a:endParaRPr lang="en-US"/>
          </a:p>
        </p:txBody>
      </p:sp>
      <p:sp>
        <p:nvSpPr>
          <p:cNvPr id="631743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2635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6223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Explain that MediaPipe’s FaceLandmarker model does the heavy lifting per frame — detecting the face, 478 3D landmarks and 52 expression blendshape scores, plus a head-pose transform. From there, a rule-based engine (inspired by the Facial Action Coding System) scores emotions, and head-pose thresholds determine eye contact and attention. This avoids needing a heavy separate deep-learning emotion model.</a:t>
            </a:r>
            <a:endParaRPr lang="en-US"/>
          </a:p>
        </p:txBody>
      </p:sp>
      <p:sp>
        <p:nvSpPr>
          <p:cNvPr id="9362786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8047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3627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Show the two main tabs of the Streamlit app: Upload Video for pre-recorded interviews, and Live Webcam for real-time analysis. Insert actual screenshots of your running application into the two placeholder frames before presenting. Highlight the live progress bar, running metrics, and the downloadable report.</a:t>
            </a:r>
            <a:endParaRPr lang="en-US"/>
          </a:p>
        </p:txBody>
      </p:sp>
      <p:sp>
        <p:nvSpPr>
          <p:cNvPr id="1740898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328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39769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Present sample results from a test run of the system — these example figures (87% eye contact, 91% attention, 96% face visibility, High engagement) should be replaced with your own test data. Insert a screenshot of an actual generated report or emotion chart in the placeholder below. Briefly discuss accuracy observations and any limitations you noted during testing.</a:t>
            </a:r>
            <a:endParaRPr lang="en-US"/>
          </a:p>
        </p:txBody>
      </p:sp>
      <p:sp>
        <p:nvSpPr>
          <p:cNvPr id="16739689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8153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4245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Summarize the key benefits: objective evaluation free of bias, real-time feedback, offline/privacy-friendly operation, ease of use for non-technical interviewers, structured comparable reports, and time savings through automation.</a:t>
            </a:r>
            <a:endParaRPr lang="en-US"/>
          </a:p>
        </p:txBody>
      </p:sp>
      <p:sp>
        <p:nvSpPr>
          <p:cNvPr id="962446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2948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9369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Wrap up by restating that the project met its objectives: a working, modular face-detection based interview analysis pipeline with an accessible web interface. Emphasize it is meant to support, not replace, human interviewer judgment.</a:t>
            </a:r>
            <a:endParaRPr lang="en-US"/>
          </a:p>
        </p:txBody>
      </p:sp>
      <p:sp>
        <p:nvSpPr>
          <p:cNvPr id="1305786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775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22108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Discuss potential extensions: replacing the rule-based emotion classifier with a trained deep-learning model for higher accuracy, adding multi-face detection for exam-style proctoring, deploying the system to the cloud for remote access, and building a companion mobile app.</a:t>
            </a:r>
            <a:endParaRPr lang="en-US"/>
          </a:p>
        </p:txBody>
      </p:sp>
      <p:sp>
        <p:nvSpPr>
          <p:cNvPr id="990862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1958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33090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Thank the panel and invite questions. Be ready to discuss the emotion-scoring heuristics, MediaPipe’s blendshape output, the modular code structure, and the live-webcam implementation details, as these are the most likely areas for viva questions.</a:t>
            </a:r>
            <a:endParaRPr lang="en-US"/>
          </a:p>
        </p:txBody>
      </p:sp>
      <p:sp>
        <p:nvSpPr>
          <p:cNvPr id="2129330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B203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49884" name="Shape 0"/>
          <p:cNvSpPr/>
          <p:nvPr/>
        </p:nvSpPr>
        <p:spPr bwMode="auto">
          <a:xfrm>
            <a:off x="5501488" y="777240"/>
            <a:ext cx="1188720" cy="118872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30213419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86779" y="1062533"/>
            <a:ext cx="618134" cy="618134"/>
          </a:xfrm>
          <a:prstGeom prst="rect">
            <a:avLst/>
          </a:prstGeom>
        </p:spPr>
      </p:pic>
      <p:sp>
        <p:nvSpPr>
          <p:cNvPr id="1761938341" name="Text 1"/>
          <p:cNvSpPr/>
          <p:nvPr/>
        </p:nvSpPr>
        <p:spPr bwMode="auto">
          <a:xfrm>
            <a:off x="914400" y="233172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Interview Analysis using Face Detection</a:t>
            </a:r>
            <a:endParaRPr lang="en-US" sz="4000"/>
          </a:p>
        </p:txBody>
      </p:sp>
      <p:sp>
        <p:nvSpPr>
          <p:cNvPr id="935083510" name="Text 2"/>
          <p:cNvSpPr/>
          <p:nvPr/>
        </p:nvSpPr>
        <p:spPr bwMode="auto">
          <a:xfrm>
            <a:off x="1371600" y="352044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i="1">
                <a:solidFill>
                  <a:srgbClr val="BFD8F5"/>
                </a:solidFill>
                <a:latin typeface="Calibri"/>
                <a:ea typeface="Calibri"/>
                <a:cs typeface="Calibri"/>
              </a:rPr>
              <a:t>An AI-Powered System for Objective Candidate Evaluation</a:t>
            </a:r>
            <a:endParaRPr lang="en-US" sz="1600"/>
          </a:p>
        </p:txBody>
      </p:sp>
      <p:sp>
        <p:nvSpPr>
          <p:cNvPr id="1231794430" name="Shape 3"/>
          <p:cNvSpPr/>
          <p:nvPr/>
        </p:nvSpPr>
        <p:spPr bwMode="auto">
          <a:xfrm>
            <a:off x="4937760" y="4160519"/>
            <a:ext cx="231343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961146" name="Text 4"/>
          <p:cNvSpPr/>
          <p:nvPr/>
        </p:nvSpPr>
        <p:spPr bwMode="auto">
          <a:xfrm>
            <a:off x="1371600" y="43434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MCA Data Science Project</a:t>
            </a:r>
            <a:endParaRPr lang="en-US" sz="1400"/>
          </a:p>
        </p:txBody>
      </p:sp>
      <p:sp>
        <p:nvSpPr>
          <p:cNvPr id="1378631676" name="Text 5"/>
          <p:cNvSpPr/>
          <p:nvPr/>
        </p:nvSpPr>
        <p:spPr bwMode="auto">
          <a:xfrm>
            <a:off x="1371600" y="502920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BFD8F5"/>
                </a:solidFill>
                <a:latin typeface="Calibri"/>
                <a:ea typeface="Calibri"/>
                <a:cs typeface="Calibri"/>
              </a:rPr>
              <a:t>Presented by: </a:t>
            </a:r>
            <a:r>
              <a:rPr lang="en-US" sz="1800">
                <a:solidFill>
                  <a:srgbClr val="BFD8F5"/>
                </a:solidFill>
                <a:latin typeface="Calibri"/>
                <a:ea typeface="Calibri"/>
                <a:cs typeface="Calibri"/>
              </a:rPr>
              <a:t>Riya Kumari Bhagat</a:t>
            </a:r>
            <a:endParaRPr lang="en-US" sz="1300"/>
          </a:p>
        </p:txBody>
      </p:sp>
      <p:sp>
        <p:nvSpPr>
          <p:cNvPr id="2047938298" name="Text 6"/>
          <p:cNvSpPr/>
          <p:nvPr/>
        </p:nvSpPr>
        <p:spPr bwMode="auto">
          <a:xfrm>
            <a:off x="1371600" y="5531031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BFD8F5"/>
                </a:solidFill>
                <a:latin typeface="Calibri"/>
                <a:ea typeface="Calibri"/>
                <a:cs typeface="Calibri"/>
              </a:rPr>
              <a:t>Guided by: </a:t>
            </a:r>
            <a:r>
              <a:rPr lang="en-US" sz="1800">
                <a:solidFill>
                  <a:srgbClr val="BFD8F5"/>
                </a:solidFill>
                <a:latin typeface="Calibri"/>
                <a:ea typeface="Calibri"/>
                <a:cs typeface="Calibri"/>
              </a:rPr>
              <a:t>Sreesh Bhat U |   </a:t>
            </a:r>
            <a:r>
              <a:rPr lang="en-US" sz="1800">
                <a:solidFill>
                  <a:srgbClr val="BFD8F5"/>
                </a:solidFill>
                <a:latin typeface="Calibri"/>
                <a:ea typeface="Calibri"/>
                <a:cs typeface="Calibri"/>
              </a:rPr>
              <a:t>Lovely Professional University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728289" name="Shape 0"/>
          <p:cNvSpPr/>
          <p:nvPr/>
        </p:nvSpPr>
        <p:spPr bwMode="auto">
          <a:xfrm>
            <a:off x="502920" y="384048"/>
            <a:ext cx="621792" cy="621792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100845012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2150" y="533278"/>
            <a:ext cx="323332" cy="323332"/>
          </a:xfrm>
          <a:prstGeom prst="rect">
            <a:avLst/>
          </a:prstGeom>
        </p:spPr>
      </p:pic>
      <p:sp>
        <p:nvSpPr>
          <p:cNvPr id="641811607" name="Text 1"/>
          <p:cNvSpPr/>
          <p:nvPr/>
        </p:nvSpPr>
        <p:spPr bwMode="auto">
          <a:xfrm>
            <a:off x="1298448" y="3657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2395B"/>
                </a:solidFill>
                <a:latin typeface="Cambria"/>
                <a:ea typeface="Cambria"/>
                <a:cs typeface="Cambria"/>
              </a:rPr>
              <a:t>Introduction</a:t>
            </a:r>
            <a:endParaRPr lang="en-US" sz="3000"/>
          </a:p>
        </p:txBody>
      </p:sp>
      <p:sp>
        <p:nvSpPr>
          <p:cNvPr id="44117950" name="Text 2"/>
          <p:cNvSpPr/>
          <p:nvPr/>
        </p:nvSpPr>
        <p:spPr bwMode="auto"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02 / 15</a:t>
            </a:r>
            <a:endParaRPr lang="en-US" sz="900"/>
          </a:p>
        </p:txBody>
      </p:sp>
      <p:sp>
        <p:nvSpPr>
          <p:cNvPr id="1838319205" name="Text 3"/>
          <p:cNvSpPr/>
          <p:nvPr/>
        </p:nvSpPr>
        <p:spPr bwMode="auto">
          <a:xfrm flipH="0" flipV="0">
            <a:off x="777240" y="2030957"/>
            <a:ext cx="6275558" cy="3710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7793" indent="-217793">
              <a:buFont typeface="Arial"/>
              <a:buChar char="•"/>
              <a:defRPr/>
            </a:pPr>
            <a:r>
              <a:rPr sz="18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Interviews are essential for evaluating a candidate's technical knowledge, communication skills, and overall personality.</a:t>
            </a:r>
            <a:endParaRPr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8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Traditional interview assessment relies on manual observation, which can be subjective and inconsistent.</a:t>
            </a:r>
            <a:endParaRPr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8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Interview Analysis Using Face Detection</a:t>
            </a:r>
            <a:r>
              <a:rPr sz="18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leverages Artificial Intelligence and Computer Vision to objectively analyze a candidate's non-verbal behavior.</a:t>
            </a:r>
            <a:endParaRPr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8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system evaluates</a:t>
            </a:r>
            <a:r>
              <a:rPr sz="18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facial expressions, head pose, eye contact, and engagement</a:t>
            </a:r>
            <a:r>
              <a:rPr sz="18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from recorded interview videos.</a:t>
            </a:r>
            <a:endParaRPr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28600" indent="-228600" algn="l">
              <a:spcAft>
                <a:spcPts val="1200"/>
              </a:spcAft>
              <a:buSzPct val="100000"/>
              <a:buChar char="●"/>
              <a:defRPr/>
            </a:pPr>
            <a:r>
              <a:rPr sz="18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An interactive</a:t>
            </a:r>
            <a:r>
              <a:rPr sz="18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Streamlit dashboard</a:t>
            </a:r>
            <a:r>
              <a:rPr sz="18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presents the analysis results through visual reports and performance metrics, helping recruiters make more informed decisions.</a:t>
            </a:r>
            <a:endParaRPr sz="20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932926009" name="Shape 4"/>
          <p:cNvSpPr/>
          <p:nvPr/>
        </p:nvSpPr>
        <p:spPr bwMode="auto">
          <a:xfrm flipH="0" flipV="0">
            <a:off x="7315199" y="1600200"/>
            <a:ext cx="4114800" cy="3733799"/>
          </a:xfrm>
          <a:prstGeom prst="roundRect">
            <a:avLst>
              <a:gd name="adj" fmla="val 2222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2006104194" name="Shape 5"/>
          <p:cNvSpPr/>
          <p:nvPr/>
        </p:nvSpPr>
        <p:spPr bwMode="auto">
          <a:xfrm>
            <a:off x="7635240" y="1920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4919821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766913" y="2051914"/>
            <a:ext cx="285293" cy="285293"/>
          </a:xfrm>
          <a:prstGeom prst="rect">
            <a:avLst/>
          </a:prstGeom>
        </p:spPr>
      </p:pic>
      <p:sp>
        <p:nvSpPr>
          <p:cNvPr id="1457338246" name="Text 6"/>
          <p:cNvSpPr/>
          <p:nvPr/>
        </p:nvSpPr>
        <p:spPr bwMode="auto">
          <a:xfrm>
            <a:off x="763524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Why Face Detection?</a:t>
            </a:r>
            <a:endParaRPr lang="en-US" sz="1500"/>
          </a:p>
        </p:txBody>
      </p:sp>
      <p:sp>
        <p:nvSpPr>
          <p:cNvPr id="448359433" name="Text 7"/>
          <p:cNvSpPr/>
          <p:nvPr/>
        </p:nvSpPr>
        <p:spPr bwMode="auto">
          <a:xfrm>
            <a:off x="7635240" y="30632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Facial cues — expressions, gaze, and posture — carry rich information about a candidate’s confidence and engagement that structured questions alone cannot capture.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669421" name="Shape 0"/>
          <p:cNvSpPr/>
          <p:nvPr/>
        </p:nvSpPr>
        <p:spPr bwMode="auto">
          <a:xfrm>
            <a:off x="502920" y="384048"/>
            <a:ext cx="621792" cy="621792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26670663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2149" y="533277"/>
            <a:ext cx="323332" cy="323332"/>
          </a:xfrm>
          <a:prstGeom prst="rect">
            <a:avLst/>
          </a:prstGeom>
        </p:spPr>
      </p:pic>
      <p:sp>
        <p:nvSpPr>
          <p:cNvPr id="442203747" name="Text 1"/>
          <p:cNvSpPr/>
          <p:nvPr/>
        </p:nvSpPr>
        <p:spPr bwMode="auto">
          <a:xfrm>
            <a:off x="1298448" y="3657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2395B"/>
                </a:solidFill>
                <a:latin typeface="Cambria"/>
                <a:ea typeface="Cambria"/>
                <a:cs typeface="Cambria"/>
              </a:rPr>
              <a:t>Problem Statement</a:t>
            </a:r>
            <a:endParaRPr lang="en-US" sz="3000"/>
          </a:p>
        </p:txBody>
      </p:sp>
      <p:sp>
        <p:nvSpPr>
          <p:cNvPr id="1745087138" name="Text 2"/>
          <p:cNvSpPr/>
          <p:nvPr/>
        </p:nvSpPr>
        <p:spPr bwMode="auto"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03 / 15</a:t>
            </a:r>
            <a:endParaRPr lang="en-US" sz="900"/>
          </a:p>
        </p:txBody>
      </p:sp>
      <p:sp>
        <p:nvSpPr>
          <p:cNvPr id="1958208124" name="Shape 3"/>
          <p:cNvSpPr/>
          <p:nvPr/>
        </p:nvSpPr>
        <p:spPr bwMode="auto">
          <a:xfrm>
            <a:off x="777240" y="160020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601690277" name="Shape 4"/>
          <p:cNvSpPr/>
          <p:nvPr/>
        </p:nvSpPr>
        <p:spPr bwMode="auto">
          <a:xfrm>
            <a:off x="1005840" y="18288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75655396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115568" y="1938528"/>
            <a:ext cx="237744" cy="237744"/>
          </a:xfrm>
          <a:prstGeom prst="rect">
            <a:avLst/>
          </a:prstGeom>
        </p:spPr>
      </p:pic>
      <p:sp>
        <p:nvSpPr>
          <p:cNvPr id="1325025957" name="Text 5"/>
          <p:cNvSpPr/>
          <p:nvPr/>
        </p:nvSpPr>
        <p:spPr bwMode="auto">
          <a:xfrm>
            <a:off x="1645920" y="1801367"/>
            <a:ext cx="41605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Subjective Evaluation</a:t>
            </a:r>
            <a:endParaRPr lang="en-US" sz="1450"/>
          </a:p>
        </p:txBody>
      </p:sp>
      <p:sp>
        <p:nvSpPr>
          <p:cNvPr id="1409367494" name="Text 6"/>
          <p:cNvSpPr/>
          <p:nvPr/>
        </p:nvSpPr>
        <p:spPr bwMode="auto">
          <a:xfrm>
            <a:off x="1005840" y="2313432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/>
            </a:pPr>
            <a:r>
              <a:rPr sz="1200" b="0" i="0" u="none">
                <a:solidFill>
                  <a:srgbClr val="5D7287"/>
                </a:solidFill>
                <a:latin typeface="Arial"/>
                <a:ea typeface="Arial"/>
                <a:cs typeface="Arial"/>
              </a:rPr>
              <a:t>Interview assessment depends on the interviewer's personal observation, which may lead to inconsistent and biased evaluations.</a:t>
            </a:r>
            <a:endParaRPr sz="20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93785375" name="Shape 7"/>
          <p:cNvSpPr/>
          <p:nvPr/>
        </p:nvSpPr>
        <p:spPr bwMode="auto">
          <a:xfrm>
            <a:off x="6400800" y="160020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82619221" name="Shape 8"/>
          <p:cNvSpPr/>
          <p:nvPr/>
        </p:nvSpPr>
        <p:spPr bwMode="auto">
          <a:xfrm>
            <a:off x="6629400" y="18288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1478483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739128" y="1938528"/>
            <a:ext cx="237744" cy="237744"/>
          </a:xfrm>
          <a:prstGeom prst="rect">
            <a:avLst/>
          </a:prstGeom>
        </p:spPr>
      </p:pic>
      <p:sp>
        <p:nvSpPr>
          <p:cNvPr id="1135205364" name="Text 9"/>
          <p:cNvSpPr/>
          <p:nvPr/>
        </p:nvSpPr>
        <p:spPr bwMode="auto">
          <a:xfrm>
            <a:off x="7269480" y="1801367"/>
            <a:ext cx="41605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Limited Behavioral Analysis</a:t>
            </a:r>
            <a:endParaRPr lang="en-US" sz="1450"/>
          </a:p>
        </p:txBody>
      </p:sp>
      <p:sp>
        <p:nvSpPr>
          <p:cNvPr id="1905535915" name="Text 10"/>
          <p:cNvSpPr/>
          <p:nvPr/>
        </p:nvSpPr>
        <p:spPr bwMode="auto">
          <a:xfrm>
            <a:off x="6629400" y="2313432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/>
            </a:pPr>
            <a:r>
              <a:rPr sz="1100" b="0" i="0" u="none">
                <a:solidFill>
                  <a:srgbClr val="5D7287"/>
                </a:solidFill>
                <a:latin typeface="Arial"/>
                <a:ea typeface="Arial"/>
                <a:cs typeface="Arial"/>
              </a:rPr>
              <a:t>Traditional interviews focus mainly on verbal responses and often overlook important non-verbal cues such as facial expressions, eye contact, and head movements.</a:t>
            </a:r>
            <a:endParaRPr>
              <a:solidFill>
                <a:srgbClr val="5D7287"/>
              </a:solidFill>
            </a:endParaRPr>
          </a:p>
        </p:txBody>
      </p:sp>
      <p:sp>
        <p:nvSpPr>
          <p:cNvPr id="1195600110" name="Shape 11"/>
          <p:cNvSpPr/>
          <p:nvPr/>
        </p:nvSpPr>
        <p:spPr bwMode="auto">
          <a:xfrm>
            <a:off x="777240" y="370332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1663408291" name="Shape 12"/>
          <p:cNvSpPr/>
          <p:nvPr/>
        </p:nvSpPr>
        <p:spPr bwMode="auto">
          <a:xfrm>
            <a:off x="1005840" y="3931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67749735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115568" y="4041648"/>
            <a:ext cx="237744" cy="237744"/>
          </a:xfrm>
          <a:prstGeom prst="rect">
            <a:avLst/>
          </a:prstGeom>
        </p:spPr>
      </p:pic>
      <p:sp>
        <p:nvSpPr>
          <p:cNvPr id="123859338" name="Text 13"/>
          <p:cNvSpPr/>
          <p:nvPr/>
        </p:nvSpPr>
        <p:spPr bwMode="auto">
          <a:xfrm>
            <a:off x="1645920" y="3904488"/>
            <a:ext cx="41605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Manual Observation </a:t>
            </a:r>
            <a:r>
              <a:rPr lang="en-US" sz="145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Challenges</a:t>
            </a:r>
            <a:endParaRPr lang="en-US" sz="1450"/>
          </a:p>
        </p:txBody>
      </p:sp>
      <p:sp>
        <p:nvSpPr>
          <p:cNvPr id="679258447" name="Text 14"/>
          <p:cNvSpPr/>
          <p:nvPr/>
        </p:nvSpPr>
        <p:spPr bwMode="auto">
          <a:xfrm>
            <a:off x="1005840" y="4416552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sz="1100" b="0" i="0" u="none">
                <a:solidFill>
                  <a:srgbClr val="5D7287"/>
                </a:solidFill>
                <a:latin typeface="Arial"/>
                <a:ea typeface="Arial"/>
                <a:cs typeface="Arial"/>
              </a:rPr>
              <a:t>It is difficult for interviewers to continuously monitor micro-expressions, attention level, and candidate engagement throughout the interview.</a:t>
            </a:r>
            <a:endParaRPr sz="1200">
              <a:solidFill>
                <a:srgbClr val="5D7287"/>
              </a:solidFill>
              <a:latin typeface="Arial"/>
              <a:cs typeface="Arial"/>
            </a:endParaRPr>
          </a:p>
        </p:txBody>
      </p:sp>
      <p:sp>
        <p:nvSpPr>
          <p:cNvPr id="1275915732" name="Shape 15"/>
          <p:cNvSpPr/>
          <p:nvPr/>
        </p:nvSpPr>
        <p:spPr bwMode="auto">
          <a:xfrm>
            <a:off x="6400800" y="370332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1171230924" name="Shape 16"/>
          <p:cNvSpPr/>
          <p:nvPr/>
        </p:nvSpPr>
        <p:spPr bwMode="auto">
          <a:xfrm>
            <a:off x="6629400" y="3931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60234788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739128" y="4041648"/>
            <a:ext cx="237744" cy="237744"/>
          </a:xfrm>
          <a:prstGeom prst="rect">
            <a:avLst/>
          </a:prstGeom>
        </p:spPr>
      </p:pic>
      <p:sp>
        <p:nvSpPr>
          <p:cNvPr id="1786503352" name="Text 17"/>
          <p:cNvSpPr/>
          <p:nvPr/>
        </p:nvSpPr>
        <p:spPr bwMode="auto">
          <a:xfrm>
            <a:off x="7269480" y="3904488"/>
            <a:ext cx="41605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Lack of Automated  Reporting</a:t>
            </a:r>
            <a:endParaRPr lang="en-US" sz="1450"/>
          </a:p>
        </p:txBody>
      </p:sp>
      <p:sp>
        <p:nvSpPr>
          <p:cNvPr id="993491134" name="Text 18"/>
          <p:cNvSpPr/>
          <p:nvPr/>
        </p:nvSpPr>
        <p:spPr bwMode="auto">
          <a:xfrm>
            <a:off x="6629400" y="4416552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/>
            </a:pPr>
            <a:r>
              <a:rPr sz="1100" b="0" i="0" u="none">
                <a:solidFill>
                  <a:srgbClr val="5D7287"/>
                </a:solidFill>
                <a:latin typeface="Arial"/>
                <a:ea typeface="Arial"/>
                <a:cs typeface="Arial"/>
              </a:rPr>
              <a:t>Most interview processes do not generate objective, measurable reports that summarize a candidate's behavioral performance.</a:t>
            </a:r>
            <a:endParaRPr>
              <a:solidFill>
                <a:srgbClr val="5D7287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957941" name="Shape 0"/>
          <p:cNvSpPr/>
          <p:nvPr/>
        </p:nvSpPr>
        <p:spPr bwMode="auto">
          <a:xfrm>
            <a:off x="502920" y="384048"/>
            <a:ext cx="621792" cy="621792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148420595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2150" y="533278"/>
            <a:ext cx="323332" cy="323332"/>
          </a:xfrm>
          <a:prstGeom prst="rect">
            <a:avLst/>
          </a:prstGeom>
        </p:spPr>
      </p:pic>
      <p:sp>
        <p:nvSpPr>
          <p:cNvPr id="386028734" name="Text 1"/>
          <p:cNvSpPr/>
          <p:nvPr/>
        </p:nvSpPr>
        <p:spPr bwMode="auto">
          <a:xfrm>
            <a:off x="1298448" y="3657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2395B"/>
                </a:solidFill>
                <a:latin typeface="Cambria"/>
                <a:ea typeface="Cambria"/>
                <a:cs typeface="Cambria"/>
              </a:rPr>
              <a:t>Project Objectives</a:t>
            </a:r>
            <a:endParaRPr lang="en-US" sz="3000"/>
          </a:p>
        </p:txBody>
      </p:sp>
      <p:sp>
        <p:nvSpPr>
          <p:cNvPr id="1274247986" name="Text 2"/>
          <p:cNvSpPr/>
          <p:nvPr/>
        </p:nvSpPr>
        <p:spPr bwMode="auto"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04 / 15</a:t>
            </a:r>
            <a:endParaRPr lang="en-US" sz="900"/>
          </a:p>
        </p:txBody>
      </p:sp>
      <p:sp>
        <p:nvSpPr>
          <p:cNvPr id="791795428" name="Shape 3"/>
          <p:cNvSpPr/>
          <p:nvPr/>
        </p:nvSpPr>
        <p:spPr bwMode="auto">
          <a:xfrm>
            <a:off x="777240" y="1554480"/>
            <a:ext cx="457200" cy="457200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129603086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86968" y="1664208"/>
            <a:ext cx="237744" cy="237744"/>
          </a:xfrm>
          <a:prstGeom prst="rect">
            <a:avLst/>
          </a:prstGeom>
        </p:spPr>
      </p:pic>
      <p:sp>
        <p:nvSpPr>
          <p:cNvPr id="138306486" name="Text 4"/>
          <p:cNvSpPr/>
          <p:nvPr/>
        </p:nvSpPr>
        <p:spPr bwMode="auto">
          <a:xfrm>
            <a:off x="1417320" y="152704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Detect faces in real time </a:t>
            </a:r>
            <a:r>
              <a:rPr lang="en-US" sz="14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from a webcam feed or a recorded interview video.</a:t>
            </a:r>
            <a:endParaRPr lang="en-US" sz="1450"/>
          </a:p>
        </p:txBody>
      </p:sp>
      <p:sp>
        <p:nvSpPr>
          <p:cNvPr id="968920222" name="Shape 5"/>
          <p:cNvSpPr/>
          <p:nvPr/>
        </p:nvSpPr>
        <p:spPr bwMode="auto">
          <a:xfrm>
            <a:off x="777240" y="2395728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662580246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86968" y="2505456"/>
            <a:ext cx="237744" cy="237744"/>
          </a:xfrm>
          <a:prstGeom prst="rect">
            <a:avLst/>
          </a:prstGeom>
        </p:spPr>
      </p:pic>
      <p:sp>
        <p:nvSpPr>
          <p:cNvPr id="1650737381" name="Text 6"/>
          <p:cNvSpPr/>
          <p:nvPr/>
        </p:nvSpPr>
        <p:spPr bwMode="auto">
          <a:xfrm>
            <a:off x="1417320" y="2368296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Recognize facial expressions </a:t>
            </a:r>
            <a:r>
              <a:rPr lang="en-US" sz="14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and classify them into 7 standard emotion categories.</a:t>
            </a:r>
            <a:endParaRPr lang="en-US" sz="1450"/>
          </a:p>
        </p:txBody>
      </p:sp>
      <p:sp>
        <p:nvSpPr>
          <p:cNvPr id="333605813" name="Shape 7"/>
          <p:cNvSpPr/>
          <p:nvPr/>
        </p:nvSpPr>
        <p:spPr bwMode="auto">
          <a:xfrm>
            <a:off x="777240" y="3236976"/>
            <a:ext cx="457200" cy="457200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74920838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86968" y="3346704"/>
            <a:ext cx="237744" cy="237744"/>
          </a:xfrm>
          <a:prstGeom prst="rect">
            <a:avLst/>
          </a:prstGeom>
        </p:spPr>
      </p:pic>
      <p:sp>
        <p:nvSpPr>
          <p:cNvPr id="542266053" name="Text 8"/>
          <p:cNvSpPr/>
          <p:nvPr/>
        </p:nvSpPr>
        <p:spPr bwMode="auto">
          <a:xfrm>
            <a:off x="1417320" y="320954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Estimate eye contact and attention </a:t>
            </a:r>
            <a:r>
              <a:rPr lang="en-US" sz="14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using head pose and gaze direction.</a:t>
            </a:r>
            <a:endParaRPr lang="en-US" sz="1450"/>
          </a:p>
        </p:txBody>
      </p:sp>
      <p:sp>
        <p:nvSpPr>
          <p:cNvPr id="578163331" name="Shape 9"/>
          <p:cNvSpPr/>
          <p:nvPr/>
        </p:nvSpPr>
        <p:spPr bwMode="auto">
          <a:xfrm>
            <a:off x="777240" y="4078224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647330113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86968" y="4187952"/>
            <a:ext cx="237744" cy="237744"/>
          </a:xfrm>
          <a:prstGeom prst="rect">
            <a:avLst/>
          </a:prstGeom>
        </p:spPr>
      </p:pic>
      <p:sp>
        <p:nvSpPr>
          <p:cNvPr id="1177962161" name="Text 10"/>
          <p:cNvSpPr/>
          <p:nvPr/>
        </p:nvSpPr>
        <p:spPr bwMode="auto">
          <a:xfrm>
            <a:off x="1417320" y="405079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Generate an objective report </a:t>
            </a:r>
            <a:r>
              <a:rPr lang="en-US" sz="14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summarizing engagement and confidence for the interviewer.</a:t>
            </a:r>
            <a:endParaRPr lang="en-US" sz="1450"/>
          </a:p>
        </p:txBody>
      </p:sp>
      <p:sp>
        <p:nvSpPr>
          <p:cNvPr id="1448717297" name="Shape 11"/>
          <p:cNvSpPr/>
          <p:nvPr/>
        </p:nvSpPr>
        <p:spPr bwMode="auto">
          <a:xfrm>
            <a:off x="777240" y="4919471"/>
            <a:ext cx="457200" cy="457200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943078665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886968" y="5029200"/>
            <a:ext cx="237744" cy="237744"/>
          </a:xfrm>
          <a:prstGeom prst="rect">
            <a:avLst/>
          </a:prstGeom>
        </p:spPr>
      </p:pic>
      <p:sp>
        <p:nvSpPr>
          <p:cNvPr id="251026563" name="Text 12"/>
          <p:cNvSpPr/>
          <p:nvPr/>
        </p:nvSpPr>
        <p:spPr bwMode="auto">
          <a:xfrm>
            <a:off x="1417320" y="4892039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Provide a simple web interface </a:t>
            </a:r>
            <a:r>
              <a:rPr lang="en-US" sz="14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so non-technical interviewers can use the tool easily.</a:t>
            </a:r>
            <a:endParaRPr lang="en-US" sz="14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579712" name="Shape 0"/>
          <p:cNvSpPr/>
          <p:nvPr/>
        </p:nvSpPr>
        <p:spPr bwMode="auto">
          <a:xfrm>
            <a:off x="502920" y="384048"/>
            <a:ext cx="621792" cy="621792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29665423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2150" y="533278"/>
            <a:ext cx="323332" cy="323332"/>
          </a:xfrm>
          <a:prstGeom prst="rect">
            <a:avLst/>
          </a:prstGeom>
        </p:spPr>
      </p:pic>
      <p:sp>
        <p:nvSpPr>
          <p:cNvPr id="2144433898" name="Text 1"/>
          <p:cNvSpPr/>
          <p:nvPr/>
        </p:nvSpPr>
        <p:spPr bwMode="auto">
          <a:xfrm>
            <a:off x="1298448" y="3657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2395B"/>
                </a:solidFill>
                <a:latin typeface="Cambria"/>
                <a:ea typeface="Cambria"/>
                <a:cs typeface="Cambria"/>
              </a:rPr>
              <a:t>Technologies Used</a:t>
            </a:r>
            <a:endParaRPr lang="en-US" sz="3000"/>
          </a:p>
        </p:txBody>
      </p:sp>
      <p:sp>
        <p:nvSpPr>
          <p:cNvPr id="1031532212" name="Text 2"/>
          <p:cNvSpPr/>
          <p:nvPr/>
        </p:nvSpPr>
        <p:spPr bwMode="auto"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05 / 15</a:t>
            </a:r>
            <a:endParaRPr lang="en-US" sz="900"/>
          </a:p>
        </p:txBody>
      </p:sp>
      <p:sp>
        <p:nvSpPr>
          <p:cNvPr id="1143487986" name="Shape 3"/>
          <p:cNvSpPr/>
          <p:nvPr/>
        </p:nvSpPr>
        <p:spPr bwMode="auto">
          <a:xfrm>
            <a:off x="548640" y="1645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249816062" name="Shape 4"/>
          <p:cNvSpPr/>
          <p:nvPr/>
        </p:nvSpPr>
        <p:spPr bwMode="auto">
          <a:xfrm>
            <a:off x="1943100" y="190195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0652479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118665" y="2077517"/>
            <a:ext cx="380390" cy="380390"/>
          </a:xfrm>
          <a:prstGeom prst="rect">
            <a:avLst/>
          </a:prstGeom>
        </p:spPr>
      </p:pic>
      <p:sp>
        <p:nvSpPr>
          <p:cNvPr id="2098948121" name="Text 5"/>
          <p:cNvSpPr/>
          <p:nvPr/>
        </p:nvSpPr>
        <p:spPr bwMode="auto">
          <a:xfrm>
            <a:off x="685800" y="28163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Python</a:t>
            </a:r>
            <a:endParaRPr lang="en-US" sz="1500"/>
          </a:p>
        </p:txBody>
      </p:sp>
      <p:sp>
        <p:nvSpPr>
          <p:cNvPr id="1851621740" name="Text 6"/>
          <p:cNvSpPr/>
          <p:nvPr/>
        </p:nvSpPr>
        <p:spPr bwMode="auto">
          <a:xfrm>
            <a:off x="685800" y="31546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Core programming language</a:t>
            </a:r>
            <a:endParaRPr lang="en-US" sz="1100"/>
          </a:p>
        </p:txBody>
      </p:sp>
      <p:sp>
        <p:nvSpPr>
          <p:cNvPr id="1199484687" name="Shape 7"/>
          <p:cNvSpPr/>
          <p:nvPr/>
        </p:nvSpPr>
        <p:spPr bwMode="auto">
          <a:xfrm>
            <a:off x="4297680" y="1645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252810793" name="Shape 8"/>
          <p:cNvSpPr/>
          <p:nvPr/>
        </p:nvSpPr>
        <p:spPr bwMode="auto">
          <a:xfrm>
            <a:off x="5692140" y="190195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2039845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867705" y="2077517"/>
            <a:ext cx="380390" cy="380390"/>
          </a:xfrm>
          <a:prstGeom prst="rect">
            <a:avLst/>
          </a:prstGeom>
        </p:spPr>
      </p:pic>
      <p:sp>
        <p:nvSpPr>
          <p:cNvPr id="1103206851" name="Text 9"/>
          <p:cNvSpPr/>
          <p:nvPr/>
        </p:nvSpPr>
        <p:spPr bwMode="auto">
          <a:xfrm>
            <a:off x="4434840" y="28163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MediaPipe</a:t>
            </a:r>
            <a:endParaRPr lang="en-US" sz="1500"/>
          </a:p>
        </p:txBody>
      </p:sp>
      <p:sp>
        <p:nvSpPr>
          <p:cNvPr id="1470409819" name="Text 10"/>
          <p:cNvSpPr/>
          <p:nvPr/>
        </p:nvSpPr>
        <p:spPr bwMode="auto">
          <a:xfrm>
            <a:off x="4434840" y="31546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Face landmarks &amp; blendshapes</a:t>
            </a:r>
            <a:endParaRPr lang="en-US" sz="1100"/>
          </a:p>
        </p:txBody>
      </p:sp>
      <p:sp>
        <p:nvSpPr>
          <p:cNvPr id="567857336" name="Shape 11"/>
          <p:cNvSpPr/>
          <p:nvPr/>
        </p:nvSpPr>
        <p:spPr bwMode="auto">
          <a:xfrm>
            <a:off x="8046720" y="1645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1782174407" name="Shape 12"/>
          <p:cNvSpPr/>
          <p:nvPr/>
        </p:nvSpPr>
        <p:spPr bwMode="auto">
          <a:xfrm>
            <a:off x="9441180" y="190195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5403858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616745" y="2077517"/>
            <a:ext cx="380390" cy="380390"/>
          </a:xfrm>
          <a:prstGeom prst="rect">
            <a:avLst/>
          </a:prstGeom>
        </p:spPr>
      </p:pic>
      <p:sp>
        <p:nvSpPr>
          <p:cNvPr id="437619908" name="Text 13"/>
          <p:cNvSpPr/>
          <p:nvPr/>
        </p:nvSpPr>
        <p:spPr bwMode="auto">
          <a:xfrm>
            <a:off x="8183880" y="28163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OpenCV</a:t>
            </a:r>
            <a:endParaRPr lang="en-US" sz="1500"/>
          </a:p>
        </p:txBody>
      </p:sp>
      <p:sp>
        <p:nvSpPr>
          <p:cNvPr id="156932386" name="Text 14"/>
          <p:cNvSpPr/>
          <p:nvPr/>
        </p:nvSpPr>
        <p:spPr bwMode="auto">
          <a:xfrm>
            <a:off x="8183880" y="31546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Video capture &amp; image processing</a:t>
            </a:r>
            <a:endParaRPr lang="en-US" sz="1100"/>
          </a:p>
        </p:txBody>
      </p:sp>
      <p:sp>
        <p:nvSpPr>
          <p:cNvPr id="1519121845" name="Shape 15"/>
          <p:cNvSpPr/>
          <p:nvPr/>
        </p:nvSpPr>
        <p:spPr bwMode="auto">
          <a:xfrm>
            <a:off x="548640" y="40233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4545348" name="Shape 16"/>
          <p:cNvSpPr/>
          <p:nvPr/>
        </p:nvSpPr>
        <p:spPr bwMode="auto">
          <a:xfrm>
            <a:off x="1943100" y="427939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70266724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2118665" y="4454957"/>
            <a:ext cx="380390" cy="380390"/>
          </a:xfrm>
          <a:prstGeom prst="rect">
            <a:avLst/>
          </a:prstGeom>
        </p:spPr>
      </p:pic>
      <p:sp>
        <p:nvSpPr>
          <p:cNvPr id="1320412563" name="Text 17"/>
          <p:cNvSpPr/>
          <p:nvPr/>
        </p:nvSpPr>
        <p:spPr bwMode="auto">
          <a:xfrm>
            <a:off x="685800" y="51937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Streamlit</a:t>
            </a:r>
            <a:endParaRPr lang="en-US" sz="1500"/>
          </a:p>
        </p:txBody>
      </p:sp>
      <p:sp>
        <p:nvSpPr>
          <p:cNvPr id="1305978930" name="Text 18"/>
          <p:cNvSpPr/>
          <p:nvPr/>
        </p:nvSpPr>
        <p:spPr bwMode="auto">
          <a:xfrm>
            <a:off x="685800" y="55321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Interactive web interface</a:t>
            </a:r>
            <a:endParaRPr lang="en-US" sz="1100"/>
          </a:p>
        </p:txBody>
      </p:sp>
      <p:sp>
        <p:nvSpPr>
          <p:cNvPr id="1959241427" name="Shape 19"/>
          <p:cNvSpPr/>
          <p:nvPr/>
        </p:nvSpPr>
        <p:spPr bwMode="auto">
          <a:xfrm>
            <a:off x="4297680" y="40233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1352498854" name="Shape 20"/>
          <p:cNvSpPr/>
          <p:nvPr/>
        </p:nvSpPr>
        <p:spPr bwMode="auto">
          <a:xfrm>
            <a:off x="5692140" y="427939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8543956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5867705" y="4454957"/>
            <a:ext cx="380390" cy="380390"/>
          </a:xfrm>
          <a:prstGeom prst="rect">
            <a:avLst/>
          </a:prstGeom>
        </p:spPr>
      </p:pic>
      <p:sp>
        <p:nvSpPr>
          <p:cNvPr id="1262916777" name="Text 21"/>
          <p:cNvSpPr/>
          <p:nvPr/>
        </p:nvSpPr>
        <p:spPr bwMode="auto">
          <a:xfrm>
            <a:off x="4434840" y="51937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NumPy</a:t>
            </a:r>
            <a:endParaRPr lang="en-US" sz="1500"/>
          </a:p>
        </p:txBody>
      </p:sp>
      <p:sp>
        <p:nvSpPr>
          <p:cNvPr id="1375956832" name="Text 22"/>
          <p:cNvSpPr/>
          <p:nvPr/>
        </p:nvSpPr>
        <p:spPr bwMode="auto">
          <a:xfrm>
            <a:off x="4434840" y="55321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Numerical computation</a:t>
            </a:r>
            <a:endParaRPr lang="en-US" sz="1100"/>
          </a:p>
        </p:txBody>
      </p:sp>
      <p:sp>
        <p:nvSpPr>
          <p:cNvPr id="1637487663" name="Shape 23"/>
          <p:cNvSpPr/>
          <p:nvPr/>
        </p:nvSpPr>
        <p:spPr bwMode="auto">
          <a:xfrm>
            <a:off x="8046720" y="40233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853344614" name="Shape 24"/>
          <p:cNvSpPr/>
          <p:nvPr/>
        </p:nvSpPr>
        <p:spPr bwMode="auto">
          <a:xfrm>
            <a:off x="9441180" y="427939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20296701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9616745" y="4454957"/>
            <a:ext cx="380390" cy="380390"/>
          </a:xfrm>
          <a:prstGeom prst="rect">
            <a:avLst/>
          </a:prstGeom>
        </p:spPr>
      </p:pic>
      <p:sp>
        <p:nvSpPr>
          <p:cNvPr id="972058110" name="Text 25"/>
          <p:cNvSpPr/>
          <p:nvPr/>
        </p:nvSpPr>
        <p:spPr bwMode="auto">
          <a:xfrm>
            <a:off x="8183880" y="51937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Pandas</a:t>
            </a:r>
            <a:endParaRPr lang="en-US" sz="1500"/>
          </a:p>
        </p:txBody>
      </p:sp>
      <p:sp>
        <p:nvSpPr>
          <p:cNvPr id="1295702596" name="Text 26"/>
          <p:cNvSpPr/>
          <p:nvPr/>
        </p:nvSpPr>
        <p:spPr bwMode="auto">
          <a:xfrm>
            <a:off x="8183880" y="55321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Data handling &amp; reporting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22891" name="Shape 0"/>
          <p:cNvSpPr/>
          <p:nvPr/>
        </p:nvSpPr>
        <p:spPr bwMode="auto">
          <a:xfrm>
            <a:off x="502920" y="384048"/>
            <a:ext cx="621792" cy="621792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199633733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2150" y="533278"/>
            <a:ext cx="323332" cy="323332"/>
          </a:xfrm>
          <a:prstGeom prst="rect">
            <a:avLst/>
          </a:prstGeom>
        </p:spPr>
      </p:pic>
      <p:sp>
        <p:nvSpPr>
          <p:cNvPr id="1057541492" name="Text 1"/>
          <p:cNvSpPr/>
          <p:nvPr/>
        </p:nvSpPr>
        <p:spPr bwMode="auto">
          <a:xfrm>
            <a:off x="1298448" y="3657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2395B"/>
                </a:solidFill>
                <a:latin typeface="Cambria"/>
                <a:ea typeface="Cambria"/>
                <a:cs typeface="Cambria"/>
              </a:rPr>
              <a:t>System Architecture</a:t>
            </a:r>
            <a:endParaRPr lang="en-US" sz="3000"/>
          </a:p>
        </p:txBody>
      </p:sp>
      <p:sp>
        <p:nvSpPr>
          <p:cNvPr id="1077770285" name="Text 2"/>
          <p:cNvSpPr/>
          <p:nvPr/>
        </p:nvSpPr>
        <p:spPr bwMode="auto"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06 / 15</a:t>
            </a:r>
            <a:endParaRPr lang="en-US" sz="900"/>
          </a:p>
        </p:txBody>
      </p:sp>
      <p:sp>
        <p:nvSpPr>
          <p:cNvPr id="1862848162" name="Shape 3"/>
          <p:cNvSpPr/>
          <p:nvPr/>
        </p:nvSpPr>
        <p:spPr bwMode="auto">
          <a:xfrm>
            <a:off x="668884" y="214884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  <a:effectLst>
            <a:outerShdw blurRad="76200" dist="25400" dir="5400000" sx="100000" sy="100000" kx="0" ky="0" algn="bl" rotWithShape="0">
              <a:srgbClr val="1B2A3B">
                <a:alpha val="10000"/>
              </a:srgbClr>
            </a:outerShdw>
          </a:effectLst>
        </p:spPr>
      </p:sp>
      <p:sp>
        <p:nvSpPr>
          <p:cNvPr id="1107722781" name="Shape 4"/>
          <p:cNvSpPr/>
          <p:nvPr/>
        </p:nvSpPr>
        <p:spPr bwMode="auto">
          <a:xfrm>
            <a:off x="1359256" y="2313432"/>
            <a:ext cx="585216" cy="585216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1467384105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499707" y="2453884"/>
            <a:ext cx="304312" cy="304312"/>
          </a:xfrm>
          <a:prstGeom prst="rect">
            <a:avLst/>
          </a:prstGeom>
        </p:spPr>
      </p:pic>
      <p:sp>
        <p:nvSpPr>
          <p:cNvPr id="556077798" name="Text 5"/>
          <p:cNvSpPr/>
          <p:nvPr/>
        </p:nvSpPr>
        <p:spPr bwMode="auto">
          <a:xfrm>
            <a:off x="742036" y="2990088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Video Input</a:t>
            </a:r>
            <a:endParaRPr lang="en-US" sz="1300"/>
          </a:p>
        </p:txBody>
      </p:sp>
      <p:sp>
        <p:nvSpPr>
          <p:cNvPr id="2097567501" name="Text 6"/>
          <p:cNvSpPr/>
          <p:nvPr/>
        </p:nvSpPr>
        <p:spPr bwMode="auto">
          <a:xfrm>
            <a:off x="760324" y="331927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Webcam or uploaded interview video</a:t>
            </a:r>
            <a:endParaRPr lang="en-US" sz="1050"/>
          </a:p>
        </p:txBody>
      </p:sp>
      <p:sp>
        <p:nvSpPr>
          <p:cNvPr id="1599180665" name="Shape 7"/>
          <p:cNvSpPr/>
          <p:nvPr/>
        </p:nvSpPr>
        <p:spPr bwMode="auto">
          <a:xfrm>
            <a:off x="2653132" y="3287268"/>
            <a:ext cx="219456" cy="5486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86DE"/>
          </a:solidFill>
          <a:ln/>
        </p:spPr>
      </p:sp>
      <p:sp>
        <p:nvSpPr>
          <p:cNvPr id="597296304" name="Shape 8"/>
          <p:cNvSpPr/>
          <p:nvPr/>
        </p:nvSpPr>
        <p:spPr bwMode="auto">
          <a:xfrm>
            <a:off x="2890876" y="214884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  <a:effectLst>
            <a:outerShdw blurRad="76200" dist="25400" dir="5400000" sx="100000" sy="100000" kx="0" ky="0" algn="bl" rotWithShape="0">
              <a:srgbClr val="1B2A3B">
                <a:alpha val="10000"/>
              </a:srgbClr>
            </a:outerShdw>
          </a:effectLst>
        </p:spPr>
      </p:sp>
      <p:sp>
        <p:nvSpPr>
          <p:cNvPr id="673185411" name="Shape 9"/>
          <p:cNvSpPr/>
          <p:nvPr/>
        </p:nvSpPr>
        <p:spPr bwMode="auto">
          <a:xfrm>
            <a:off x="3581248" y="2313432"/>
            <a:ext cx="585216" cy="585216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885103831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721699" y="2453884"/>
            <a:ext cx="304312" cy="304312"/>
          </a:xfrm>
          <a:prstGeom prst="rect">
            <a:avLst/>
          </a:prstGeom>
        </p:spPr>
      </p:pic>
      <p:sp>
        <p:nvSpPr>
          <p:cNvPr id="899482280" name="Text 10"/>
          <p:cNvSpPr/>
          <p:nvPr/>
        </p:nvSpPr>
        <p:spPr bwMode="auto">
          <a:xfrm>
            <a:off x="2964028" y="2990088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Face Detection</a:t>
            </a:r>
            <a:endParaRPr lang="en-US" sz="1300"/>
          </a:p>
        </p:txBody>
      </p:sp>
      <p:sp>
        <p:nvSpPr>
          <p:cNvPr id="448112110" name="Text 11"/>
          <p:cNvSpPr/>
          <p:nvPr/>
        </p:nvSpPr>
        <p:spPr bwMode="auto">
          <a:xfrm>
            <a:off x="2982316" y="331927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MediaPipe FaceLandmarker locates the face</a:t>
            </a:r>
            <a:endParaRPr lang="en-US" sz="1050"/>
          </a:p>
        </p:txBody>
      </p:sp>
      <p:sp>
        <p:nvSpPr>
          <p:cNvPr id="1053681427" name="Shape 12"/>
          <p:cNvSpPr/>
          <p:nvPr/>
        </p:nvSpPr>
        <p:spPr bwMode="auto">
          <a:xfrm>
            <a:off x="4875124" y="3287268"/>
            <a:ext cx="219456" cy="5486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86DE"/>
          </a:solidFill>
          <a:ln/>
        </p:spPr>
      </p:sp>
      <p:sp>
        <p:nvSpPr>
          <p:cNvPr id="951514714" name="Shape 13"/>
          <p:cNvSpPr/>
          <p:nvPr/>
        </p:nvSpPr>
        <p:spPr bwMode="auto">
          <a:xfrm>
            <a:off x="5112868" y="214884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  <a:effectLst>
            <a:outerShdw blurRad="76200" dist="25400" dir="5400000" sx="100000" sy="100000" kx="0" ky="0" algn="bl" rotWithShape="0">
              <a:srgbClr val="1B2A3B">
                <a:alpha val="10000"/>
              </a:srgbClr>
            </a:outerShdw>
          </a:effectLst>
        </p:spPr>
      </p:sp>
      <p:sp>
        <p:nvSpPr>
          <p:cNvPr id="1928104959" name="Shape 14"/>
          <p:cNvSpPr/>
          <p:nvPr/>
        </p:nvSpPr>
        <p:spPr bwMode="auto">
          <a:xfrm>
            <a:off x="5803240" y="2313432"/>
            <a:ext cx="585216" cy="585216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393582206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943691" y="2453884"/>
            <a:ext cx="304312" cy="304312"/>
          </a:xfrm>
          <a:prstGeom prst="rect">
            <a:avLst/>
          </a:prstGeom>
        </p:spPr>
      </p:pic>
      <p:sp>
        <p:nvSpPr>
          <p:cNvPr id="1791642604" name="Text 15"/>
          <p:cNvSpPr/>
          <p:nvPr/>
        </p:nvSpPr>
        <p:spPr bwMode="auto">
          <a:xfrm>
            <a:off x="5186020" y="2990088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Feature Extraction</a:t>
            </a:r>
            <a:endParaRPr lang="en-US" sz="1300"/>
          </a:p>
        </p:txBody>
      </p:sp>
      <p:sp>
        <p:nvSpPr>
          <p:cNvPr id="677858521" name="Text 16"/>
          <p:cNvSpPr/>
          <p:nvPr/>
        </p:nvSpPr>
        <p:spPr bwMode="auto">
          <a:xfrm>
            <a:off x="5204308" y="331927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Landmarks, blendshapes &amp; head pose</a:t>
            </a:r>
            <a:endParaRPr lang="en-US" sz="1050"/>
          </a:p>
        </p:txBody>
      </p:sp>
      <p:sp>
        <p:nvSpPr>
          <p:cNvPr id="22932045" name="Shape 17"/>
          <p:cNvSpPr/>
          <p:nvPr/>
        </p:nvSpPr>
        <p:spPr bwMode="auto">
          <a:xfrm>
            <a:off x="7097116" y="3287268"/>
            <a:ext cx="219456" cy="5486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86DE"/>
          </a:solidFill>
          <a:ln/>
        </p:spPr>
      </p:sp>
      <p:sp>
        <p:nvSpPr>
          <p:cNvPr id="1250848524" name="Shape 18"/>
          <p:cNvSpPr/>
          <p:nvPr/>
        </p:nvSpPr>
        <p:spPr bwMode="auto">
          <a:xfrm>
            <a:off x="7334860" y="214884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  <a:effectLst>
            <a:outerShdw blurRad="76200" dist="25400" dir="5400000" sx="100000" sy="100000" kx="0" ky="0" algn="bl" rotWithShape="0">
              <a:srgbClr val="1B2A3B">
                <a:alpha val="10000"/>
              </a:srgbClr>
            </a:outerShdw>
          </a:effectLst>
        </p:spPr>
      </p:sp>
      <p:sp>
        <p:nvSpPr>
          <p:cNvPr id="393132326" name="Shape 19"/>
          <p:cNvSpPr/>
          <p:nvPr/>
        </p:nvSpPr>
        <p:spPr bwMode="auto">
          <a:xfrm>
            <a:off x="8025231" y="2313432"/>
            <a:ext cx="585216" cy="585216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847544318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165683" y="2453884"/>
            <a:ext cx="304312" cy="304312"/>
          </a:xfrm>
          <a:prstGeom prst="rect">
            <a:avLst/>
          </a:prstGeom>
        </p:spPr>
      </p:pic>
      <p:sp>
        <p:nvSpPr>
          <p:cNvPr id="218935626" name="Text 20"/>
          <p:cNvSpPr/>
          <p:nvPr/>
        </p:nvSpPr>
        <p:spPr bwMode="auto">
          <a:xfrm>
            <a:off x="7408012" y="2990088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Analysis Engine</a:t>
            </a:r>
            <a:endParaRPr lang="en-US" sz="1300"/>
          </a:p>
        </p:txBody>
      </p:sp>
      <p:sp>
        <p:nvSpPr>
          <p:cNvPr id="685232523" name="Text 21"/>
          <p:cNvSpPr/>
          <p:nvPr/>
        </p:nvSpPr>
        <p:spPr bwMode="auto">
          <a:xfrm>
            <a:off x="7426299" y="331927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Emotion, eye contact &amp; attention scoring</a:t>
            </a:r>
            <a:endParaRPr lang="en-US" sz="1050"/>
          </a:p>
        </p:txBody>
      </p:sp>
      <p:sp>
        <p:nvSpPr>
          <p:cNvPr id="789497458" name="Shape 22"/>
          <p:cNvSpPr/>
          <p:nvPr/>
        </p:nvSpPr>
        <p:spPr bwMode="auto">
          <a:xfrm>
            <a:off x="9319108" y="3287268"/>
            <a:ext cx="219456" cy="5486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86DE"/>
          </a:solidFill>
          <a:ln/>
        </p:spPr>
      </p:sp>
      <p:sp>
        <p:nvSpPr>
          <p:cNvPr id="1274323089" name="Shape 23"/>
          <p:cNvSpPr/>
          <p:nvPr/>
        </p:nvSpPr>
        <p:spPr bwMode="auto">
          <a:xfrm>
            <a:off x="9556852" y="214884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  <a:effectLst>
            <a:outerShdw blurRad="76200" dist="25400" dir="5400000" sx="100000" sy="100000" kx="0" ky="0" algn="bl" rotWithShape="0">
              <a:srgbClr val="1B2A3B">
                <a:alpha val="10000"/>
              </a:srgbClr>
            </a:outerShdw>
          </a:effectLst>
        </p:spPr>
      </p:sp>
      <p:sp>
        <p:nvSpPr>
          <p:cNvPr id="281100970" name="Shape 24"/>
          <p:cNvSpPr/>
          <p:nvPr/>
        </p:nvSpPr>
        <p:spPr bwMode="auto">
          <a:xfrm>
            <a:off x="10247224" y="2313432"/>
            <a:ext cx="585216" cy="585216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1487884648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10387675" y="2453884"/>
            <a:ext cx="304312" cy="304312"/>
          </a:xfrm>
          <a:prstGeom prst="rect">
            <a:avLst/>
          </a:prstGeom>
        </p:spPr>
      </p:pic>
      <p:sp>
        <p:nvSpPr>
          <p:cNvPr id="830778698" name="Text 25"/>
          <p:cNvSpPr/>
          <p:nvPr/>
        </p:nvSpPr>
        <p:spPr bwMode="auto">
          <a:xfrm>
            <a:off x="9630004" y="2990088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Report Generation</a:t>
            </a:r>
            <a:endParaRPr lang="en-US" sz="1300"/>
          </a:p>
        </p:txBody>
      </p:sp>
      <p:sp>
        <p:nvSpPr>
          <p:cNvPr id="1867453232" name="Text 26"/>
          <p:cNvSpPr/>
          <p:nvPr/>
        </p:nvSpPr>
        <p:spPr bwMode="auto">
          <a:xfrm>
            <a:off x="9648292" y="331927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Aggregated engagement report</a:t>
            </a:r>
            <a:endParaRPr lang="en-US" sz="1050"/>
          </a:p>
        </p:txBody>
      </p:sp>
      <p:sp>
        <p:nvSpPr>
          <p:cNvPr id="1687727871" name="Text 27"/>
          <p:cNvSpPr/>
          <p:nvPr/>
        </p:nvSpPr>
        <p:spPr bwMode="auto">
          <a:xfrm>
            <a:off x="777240" y="4892039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i="1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A modular pipeline: each stage feeds the next, from raw video to a structured interview report.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270094" name="Shape 0"/>
          <p:cNvSpPr/>
          <p:nvPr/>
        </p:nvSpPr>
        <p:spPr bwMode="auto">
          <a:xfrm>
            <a:off x="502920" y="384048"/>
            <a:ext cx="621792" cy="621792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196475054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2150" y="533278"/>
            <a:ext cx="323332" cy="323332"/>
          </a:xfrm>
          <a:prstGeom prst="rect">
            <a:avLst/>
          </a:prstGeom>
        </p:spPr>
      </p:pic>
      <p:sp>
        <p:nvSpPr>
          <p:cNvPr id="770472750" name="Text 1"/>
          <p:cNvSpPr/>
          <p:nvPr/>
        </p:nvSpPr>
        <p:spPr bwMode="auto">
          <a:xfrm>
            <a:off x="1298448" y="3657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2395B"/>
                </a:solidFill>
                <a:latin typeface="Cambria"/>
                <a:ea typeface="Cambria"/>
                <a:cs typeface="Cambria"/>
              </a:rPr>
              <a:t>Basic Workflow</a:t>
            </a:r>
            <a:endParaRPr lang="en-US" sz="3000"/>
          </a:p>
        </p:txBody>
      </p:sp>
      <p:sp>
        <p:nvSpPr>
          <p:cNvPr id="95005486" name="Text 2"/>
          <p:cNvSpPr/>
          <p:nvPr/>
        </p:nvSpPr>
        <p:spPr bwMode="auto"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07 / 15</a:t>
            </a:r>
            <a:endParaRPr lang="en-US" sz="900"/>
          </a:p>
        </p:txBody>
      </p:sp>
      <p:sp>
        <p:nvSpPr>
          <p:cNvPr id="1734183652" name="Shape 3"/>
          <p:cNvSpPr/>
          <p:nvPr/>
        </p:nvSpPr>
        <p:spPr bwMode="auto">
          <a:xfrm>
            <a:off x="678028" y="210312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12395B"/>
          </a:solidFill>
          <a:ln/>
          <a:effectLst>
            <a:outerShdw blurRad="101600" dist="38100" dir="5400000" sx="100000" sy="100000" kx="0" ky="0" algn="bl" rotWithShape="0">
              <a:srgbClr val="1B2A3B">
                <a:alpha val="15000"/>
              </a:srgbClr>
            </a:outerShdw>
          </a:effectLst>
        </p:spPr>
      </p:sp>
      <p:pic>
        <p:nvPicPr>
          <p:cNvPr id="1244313045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569568" y="2395728"/>
            <a:ext cx="685800" cy="685800"/>
          </a:xfrm>
          <a:prstGeom prst="rect">
            <a:avLst/>
          </a:prstGeom>
        </p:spPr>
      </p:pic>
      <p:sp>
        <p:nvSpPr>
          <p:cNvPr id="1557254403" name="Text 4"/>
          <p:cNvSpPr/>
          <p:nvPr/>
        </p:nvSpPr>
        <p:spPr bwMode="auto">
          <a:xfrm>
            <a:off x="787756" y="3273552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Start Session</a:t>
            </a:r>
            <a:endParaRPr lang="en-US" sz="1400"/>
          </a:p>
        </p:txBody>
      </p:sp>
      <p:sp>
        <p:nvSpPr>
          <p:cNvPr id="233681989" name="Text 5"/>
          <p:cNvSpPr/>
          <p:nvPr/>
        </p:nvSpPr>
        <p:spPr bwMode="auto">
          <a:xfrm>
            <a:off x="815188" y="3639312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CEAFB"/>
                </a:solidFill>
                <a:latin typeface="Calibri"/>
                <a:ea typeface="Calibri"/>
                <a:cs typeface="Calibri"/>
              </a:rPr>
              <a:t>Upload a video or start the live webcam</a:t>
            </a:r>
            <a:endParaRPr lang="en-US" sz="1100"/>
          </a:p>
        </p:txBody>
      </p:sp>
      <p:sp>
        <p:nvSpPr>
          <p:cNvPr id="1154628187" name="Shape 6"/>
          <p:cNvSpPr/>
          <p:nvPr/>
        </p:nvSpPr>
        <p:spPr bwMode="auto">
          <a:xfrm>
            <a:off x="3174340" y="3310127"/>
            <a:ext cx="265176" cy="5486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C7186"/>
          </a:solidFill>
          <a:ln/>
        </p:spPr>
      </p:sp>
      <p:sp>
        <p:nvSpPr>
          <p:cNvPr id="881572236" name="Shape 7"/>
          <p:cNvSpPr/>
          <p:nvPr/>
        </p:nvSpPr>
        <p:spPr bwMode="auto">
          <a:xfrm>
            <a:off x="3466948" y="210312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2E86DE"/>
          </a:solidFill>
          <a:ln/>
          <a:effectLst>
            <a:outerShdw blurRad="101600" dist="38100" dir="5400000" sx="100000" sy="100000" kx="0" ky="0" algn="bl" rotWithShape="0">
              <a:srgbClr val="1B2A3B">
                <a:alpha val="15000"/>
              </a:srgbClr>
            </a:outerShdw>
          </a:effectLst>
        </p:spPr>
      </p:sp>
      <p:pic>
        <p:nvPicPr>
          <p:cNvPr id="809400220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358488" y="2395728"/>
            <a:ext cx="685800" cy="685800"/>
          </a:xfrm>
          <a:prstGeom prst="rect">
            <a:avLst/>
          </a:prstGeom>
        </p:spPr>
      </p:pic>
      <p:sp>
        <p:nvSpPr>
          <p:cNvPr id="91795521" name="Text 8"/>
          <p:cNvSpPr/>
          <p:nvPr/>
        </p:nvSpPr>
        <p:spPr bwMode="auto">
          <a:xfrm>
            <a:off x="3576676" y="3273552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Detect Face</a:t>
            </a:r>
            <a:endParaRPr lang="en-US" sz="1400"/>
          </a:p>
        </p:txBody>
      </p:sp>
      <p:sp>
        <p:nvSpPr>
          <p:cNvPr id="1458649278" name="Text 9"/>
          <p:cNvSpPr/>
          <p:nvPr/>
        </p:nvSpPr>
        <p:spPr bwMode="auto">
          <a:xfrm>
            <a:off x="3604108" y="3639312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CEAFB"/>
                </a:solidFill>
                <a:latin typeface="Calibri"/>
                <a:ea typeface="Calibri"/>
                <a:cs typeface="Calibri"/>
              </a:rPr>
              <a:t>Locate the candidate’s face each frame</a:t>
            </a:r>
            <a:endParaRPr lang="en-US" sz="1100"/>
          </a:p>
        </p:txBody>
      </p:sp>
      <p:sp>
        <p:nvSpPr>
          <p:cNvPr id="912326901" name="Shape 10"/>
          <p:cNvSpPr/>
          <p:nvPr/>
        </p:nvSpPr>
        <p:spPr bwMode="auto">
          <a:xfrm>
            <a:off x="5963260" y="3310127"/>
            <a:ext cx="265176" cy="5486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C7186"/>
          </a:solidFill>
          <a:ln/>
        </p:spPr>
      </p:sp>
      <p:sp>
        <p:nvSpPr>
          <p:cNvPr id="14831217" name="Shape 11"/>
          <p:cNvSpPr/>
          <p:nvPr/>
        </p:nvSpPr>
        <p:spPr bwMode="auto">
          <a:xfrm>
            <a:off x="6255868" y="210312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12395B"/>
          </a:solidFill>
          <a:ln/>
          <a:effectLst>
            <a:outerShdw blurRad="101600" dist="38100" dir="5400000" sx="100000" sy="100000" kx="0" ky="0" algn="bl" rotWithShape="0">
              <a:srgbClr val="1B2A3B">
                <a:alpha val="15000"/>
              </a:srgbClr>
            </a:outerShdw>
          </a:effectLst>
        </p:spPr>
      </p:sp>
      <p:pic>
        <p:nvPicPr>
          <p:cNvPr id="170749147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147408" y="2395728"/>
            <a:ext cx="685800" cy="685800"/>
          </a:xfrm>
          <a:prstGeom prst="rect">
            <a:avLst/>
          </a:prstGeom>
        </p:spPr>
      </p:pic>
      <p:sp>
        <p:nvSpPr>
          <p:cNvPr id="631430111" name="Text 12"/>
          <p:cNvSpPr/>
          <p:nvPr/>
        </p:nvSpPr>
        <p:spPr bwMode="auto">
          <a:xfrm>
            <a:off x="6365596" y="3273552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Compute Metrics</a:t>
            </a:r>
            <a:endParaRPr lang="en-US" sz="1400"/>
          </a:p>
        </p:txBody>
      </p:sp>
      <p:sp>
        <p:nvSpPr>
          <p:cNvPr id="178043346" name="Text 13"/>
          <p:cNvSpPr/>
          <p:nvPr/>
        </p:nvSpPr>
        <p:spPr bwMode="auto">
          <a:xfrm>
            <a:off x="6393028" y="3639312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CEAFB"/>
                </a:solidFill>
                <a:latin typeface="Calibri"/>
                <a:ea typeface="Calibri"/>
                <a:cs typeface="Calibri"/>
              </a:rPr>
              <a:t>Emotion, eye contact, attention, visibility</a:t>
            </a:r>
            <a:endParaRPr lang="en-US" sz="1100"/>
          </a:p>
        </p:txBody>
      </p:sp>
      <p:sp>
        <p:nvSpPr>
          <p:cNvPr id="394069176" name="Shape 14"/>
          <p:cNvSpPr/>
          <p:nvPr/>
        </p:nvSpPr>
        <p:spPr bwMode="auto">
          <a:xfrm>
            <a:off x="8752180" y="3310127"/>
            <a:ext cx="265176" cy="5486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C7186"/>
          </a:solidFill>
          <a:ln/>
        </p:spPr>
      </p:sp>
      <p:sp>
        <p:nvSpPr>
          <p:cNvPr id="79643552" name="Shape 15"/>
          <p:cNvSpPr/>
          <p:nvPr/>
        </p:nvSpPr>
        <p:spPr bwMode="auto">
          <a:xfrm>
            <a:off x="9044788" y="210312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2E86DE"/>
          </a:solidFill>
          <a:ln/>
          <a:effectLst>
            <a:outerShdw blurRad="101600" dist="38100" dir="5400000" sx="100000" sy="100000" kx="0" ky="0" algn="bl" rotWithShape="0">
              <a:srgbClr val="1B2A3B">
                <a:alpha val="15000"/>
              </a:srgbClr>
            </a:outerShdw>
          </a:effectLst>
        </p:spPr>
      </p:sp>
      <p:pic>
        <p:nvPicPr>
          <p:cNvPr id="685923800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9936328" y="2395728"/>
            <a:ext cx="685800" cy="685800"/>
          </a:xfrm>
          <a:prstGeom prst="rect">
            <a:avLst/>
          </a:prstGeom>
        </p:spPr>
      </p:pic>
      <p:sp>
        <p:nvSpPr>
          <p:cNvPr id="684537925" name="Text 16"/>
          <p:cNvSpPr/>
          <p:nvPr/>
        </p:nvSpPr>
        <p:spPr bwMode="auto">
          <a:xfrm>
            <a:off x="9154516" y="3273552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Generate Report</a:t>
            </a:r>
            <a:endParaRPr lang="en-US" sz="1400"/>
          </a:p>
        </p:txBody>
      </p:sp>
      <p:sp>
        <p:nvSpPr>
          <p:cNvPr id="152881810" name="Text 17"/>
          <p:cNvSpPr/>
          <p:nvPr/>
        </p:nvSpPr>
        <p:spPr bwMode="auto">
          <a:xfrm>
            <a:off x="9181948" y="3639312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CEAFB"/>
                </a:solidFill>
                <a:latin typeface="Calibri"/>
                <a:ea typeface="Calibri"/>
                <a:cs typeface="Calibri"/>
              </a:rPr>
              <a:t>Aggregate results into a final summary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50016" name="Shape 0"/>
          <p:cNvSpPr/>
          <p:nvPr/>
        </p:nvSpPr>
        <p:spPr bwMode="auto">
          <a:xfrm>
            <a:off x="502920" y="384048"/>
            <a:ext cx="621792" cy="621792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149559621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2150" y="533278"/>
            <a:ext cx="323332" cy="323332"/>
          </a:xfrm>
          <a:prstGeom prst="rect">
            <a:avLst/>
          </a:prstGeom>
        </p:spPr>
      </p:pic>
      <p:sp>
        <p:nvSpPr>
          <p:cNvPr id="787652337" name="Text 1"/>
          <p:cNvSpPr/>
          <p:nvPr/>
        </p:nvSpPr>
        <p:spPr bwMode="auto">
          <a:xfrm>
            <a:off x="1298448" y="3657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2395B"/>
                </a:solidFill>
                <a:latin typeface="Cambria"/>
                <a:ea typeface="Cambria"/>
                <a:cs typeface="Cambria"/>
              </a:rPr>
              <a:t>Project Modules</a:t>
            </a:r>
            <a:endParaRPr lang="en-US" sz="3000"/>
          </a:p>
        </p:txBody>
      </p:sp>
      <p:sp>
        <p:nvSpPr>
          <p:cNvPr id="1418934955" name="Text 2"/>
          <p:cNvSpPr/>
          <p:nvPr/>
        </p:nvSpPr>
        <p:spPr bwMode="auto"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08 / 15</a:t>
            </a:r>
            <a:endParaRPr lang="en-US" sz="900"/>
          </a:p>
        </p:txBody>
      </p:sp>
      <p:sp>
        <p:nvSpPr>
          <p:cNvPr id="1121132372" name="Shape 3"/>
          <p:cNvSpPr/>
          <p:nvPr/>
        </p:nvSpPr>
        <p:spPr bwMode="auto">
          <a:xfrm>
            <a:off x="777240" y="1508759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426791509" name="Shape 4"/>
          <p:cNvSpPr/>
          <p:nvPr/>
        </p:nvSpPr>
        <p:spPr bwMode="auto">
          <a:xfrm>
            <a:off x="978408" y="1801367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3887639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121054" y="1944014"/>
            <a:ext cx="309067" cy="309067"/>
          </a:xfrm>
          <a:prstGeom prst="rect">
            <a:avLst/>
          </a:prstGeom>
        </p:spPr>
      </p:pic>
      <p:sp>
        <p:nvSpPr>
          <p:cNvPr id="1544772050" name="Text 5"/>
          <p:cNvSpPr/>
          <p:nvPr/>
        </p:nvSpPr>
        <p:spPr bwMode="auto">
          <a:xfrm>
            <a:off x="1737360" y="1655063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Face Detector</a:t>
            </a:r>
            <a:endParaRPr lang="en-US" sz="1400"/>
          </a:p>
        </p:txBody>
      </p:sp>
      <p:sp>
        <p:nvSpPr>
          <p:cNvPr id="2048998147" name="Text 6"/>
          <p:cNvSpPr/>
          <p:nvPr/>
        </p:nvSpPr>
        <p:spPr bwMode="auto">
          <a:xfrm>
            <a:off x="1737360" y="200253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Wraps MediaPipe to detect faces &amp; landmarks per frame</a:t>
            </a:r>
            <a:endParaRPr lang="en-US" sz="1100"/>
          </a:p>
        </p:txBody>
      </p:sp>
      <p:sp>
        <p:nvSpPr>
          <p:cNvPr id="562235082" name="Shape 7"/>
          <p:cNvSpPr/>
          <p:nvPr/>
        </p:nvSpPr>
        <p:spPr bwMode="auto">
          <a:xfrm>
            <a:off x="6400800" y="1508759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1532383734" name="Shape 8"/>
          <p:cNvSpPr/>
          <p:nvPr/>
        </p:nvSpPr>
        <p:spPr bwMode="auto">
          <a:xfrm>
            <a:off x="6601968" y="1801367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01901315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744614" y="1944014"/>
            <a:ext cx="309067" cy="309067"/>
          </a:xfrm>
          <a:prstGeom prst="rect">
            <a:avLst/>
          </a:prstGeom>
        </p:spPr>
      </p:pic>
      <p:sp>
        <p:nvSpPr>
          <p:cNvPr id="1324051542" name="Text 9"/>
          <p:cNvSpPr/>
          <p:nvPr/>
        </p:nvSpPr>
        <p:spPr bwMode="auto">
          <a:xfrm>
            <a:off x="7360920" y="1655063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Emotion Engine</a:t>
            </a:r>
            <a:endParaRPr lang="en-US" sz="1400"/>
          </a:p>
        </p:txBody>
      </p:sp>
      <p:sp>
        <p:nvSpPr>
          <p:cNvPr id="612840881" name="Text 10"/>
          <p:cNvSpPr/>
          <p:nvPr/>
        </p:nvSpPr>
        <p:spPr bwMode="auto">
          <a:xfrm>
            <a:off x="7360920" y="200253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Maps facial blendshapes to 7 emotion categories</a:t>
            </a:r>
            <a:endParaRPr lang="en-US" sz="1100"/>
          </a:p>
        </p:txBody>
      </p:sp>
      <p:sp>
        <p:nvSpPr>
          <p:cNvPr id="1367420682" name="Shape 11"/>
          <p:cNvSpPr/>
          <p:nvPr/>
        </p:nvSpPr>
        <p:spPr bwMode="auto">
          <a:xfrm>
            <a:off x="777240" y="2898648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430361995" name="Shape 12"/>
          <p:cNvSpPr/>
          <p:nvPr/>
        </p:nvSpPr>
        <p:spPr bwMode="auto">
          <a:xfrm>
            <a:off x="978408" y="3191256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51882119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121054" y="3333901"/>
            <a:ext cx="309067" cy="309067"/>
          </a:xfrm>
          <a:prstGeom prst="rect">
            <a:avLst/>
          </a:prstGeom>
        </p:spPr>
      </p:pic>
      <p:sp>
        <p:nvSpPr>
          <p:cNvPr id="1555399238" name="Text 13"/>
          <p:cNvSpPr/>
          <p:nvPr/>
        </p:nvSpPr>
        <p:spPr bwMode="auto">
          <a:xfrm>
            <a:off x="1737360" y="30449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Pose &amp; Gaze Module</a:t>
            </a:r>
            <a:endParaRPr lang="en-US" sz="1400"/>
          </a:p>
        </p:txBody>
      </p:sp>
      <p:sp>
        <p:nvSpPr>
          <p:cNvPr id="248163061" name="Text 14"/>
          <p:cNvSpPr/>
          <p:nvPr/>
        </p:nvSpPr>
        <p:spPr bwMode="auto">
          <a:xfrm>
            <a:off x="1737360" y="3392424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Computes head pose, eye contact &amp; attention</a:t>
            </a:r>
            <a:endParaRPr lang="en-US" sz="1100"/>
          </a:p>
        </p:txBody>
      </p:sp>
      <p:sp>
        <p:nvSpPr>
          <p:cNvPr id="223419354" name="Shape 15"/>
          <p:cNvSpPr/>
          <p:nvPr/>
        </p:nvSpPr>
        <p:spPr bwMode="auto">
          <a:xfrm>
            <a:off x="6400800" y="2898648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861380672" name="Shape 16"/>
          <p:cNvSpPr/>
          <p:nvPr/>
        </p:nvSpPr>
        <p:spPr bwMode="auto">
          <a:xfrm>
            <a:off x="6601968" y="3191256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05236811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744614" y="3333901"/>
            <a:ext cx="309067" cy="309067"/>
          </a:xfrm>
          <a:prstGeom prst="rect">
            <a:avLst/>
          </a:prstGeom>
        </p:spPr>
      </p:pic>
      <p:sp>
        <p:nvSpPr>
          <p:cNvPr id="1484525363" name="Text 17"/>
          <p:cNvSpPr/>
          <p:nvPr/>
        </p:nvSpPr>
        <p:spPr bwMode="auto">
          <a:xfrm>
            <a:off x="7360920" y="30449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Aggregator</a:t>
            </a:r>
            <a:endParaRPr lang="en-US" sz="1400"/>
          </a:p>
        </p:txBody>
      </p:sp>
      <p:sp>
        <p:nvSpPr>
          <p:cNvPr id="1560074484" name="Text 18"/>
          <p:cNvSpPr/>
          <p:nvPr/>
        </p:nvSpPr>
        <p:spPr bwMode="auto">
          <a:xfrm>
            <a:off x="7360920" y="3392424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Combines frame-level data into final scores</a:t>
            </a:r>
            <a:endParaRPr lang="en-US" sz="1100"/>
          </a:p>
        </p:txBody>
      </p:sp>
      <p:sp>
        <p:nvSpPr>
          <p:cNvPr id="292798834" name="Shape 19"/>
          <p:cNvSpPr/>
          <p:nvPr/>
        </p:nvSpPr>
        <p:spPr bwMode="auto">
          <a:xfrm>
            <a:off x="777240" y="4288536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1700195283" name="Shape 20"/>
          <p:cNvSpPr/>
          <p:nvPr/>
        </p:nvSpPr>
        <p:spPr bwMode="auto">
          <a:xfrm>
            <a:off x="978408" y="4581144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62497396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1121054" y="4723790"/>
            <a:ext cx="309067" cy="309067"/>
          </a:xfrm>
          <a:prstGeom prst="rect">
            <a:avLst/>
          </a:prstGeom>
        </p:spPr>
      </p:pic>
      <p:sp>
        <p:nvSpPr>
          <p:cNvPr id="850594685" name="Text 21"/>
          <p:cNvSpPr/>
          <p:nvPr/>
        </p:nvSpPr>
        <p:spPr bwMode="auto">
          <a:xfrm>
            <a:off x="1737360" y="4434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Video Source</a:t>
            </a:r>
            <a:endParaRPr lang="en-US" sz="1400"/>
          </a:p>
        </p:txBody>
      </p:sp>
      <p:sp>
        <p:nvSpPr>
          <p:cNvPr id="1216315603" name="Text 22"/>
          <p:cNvSpPr/>
          <p:nvPr/>
        </p:nvSpPr>
        <p:spPr bwMode="auto">
          <a:xfrm>
            <a:off x="1737360" y="478231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Handles webcam / uploaded video streams</a:t>
            </a:r>
            <a:endParaRPr lang="en-US" sz="1100"/>
          </a:p>
        </p:txBody>
      </p:sp>
      <p:sp>
        <p:nvSpPr>
          <p:cNvPr id="1713678940" name="Shape 23"/>
          <p:cNvSpPr/>
          <p:nvPr/>
        </p:nvSpPr>
        <p:spPr bwMode="auto">
          <a:xfrm>
            <a:off x="6400800" y="4288536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797632759" name="Shape 24"/>
          <p:cNvSpPr/>
          <p:nvPr/>
        </p:nvSpPr>
        <p:spPr bwMode="auto">
          <a:xfrm>
            <a:off x="6601968" y="4581144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99950092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6744614" y="4723790"/>
            <a:ext cx="309067" cy="309067"/>
          </a:xfrm>
          <a:prstGeom prst="rect">
            <a:avLst/>
          </a:prstGeom>
        </p:spPr>
      </p:pic>
      <p:sp>
        <p:nvSpPr>
          <p:cNvPr id="1019152491" name="Text 25"/>
          <p:cNvSpPr/>
          <p:nvPr/>
        </p:nvSpPr>
        <p:spPr bwMode="auto">
          <a:xfrm>
            <a:off x="7360920" y="4434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Web Interface</a:t>
            </a:r>
            <a:endParaRPr lang="en-US" sz="1400"/>
          </a:p>
        </p:txBody>
      </p:sp>
      <p:sp>
        <p:nvSpPr>
          <p:cNvPr id="322348247" name="Text 26"/>
          <p:cNvSpPr/>
          <p:nvPr/>
        </p:nvSpPr>
        <p:spPr bwMode="auto">
          <a:xfrm>
            <a:off x="7360920" y="478231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Streamlit UI for upload &amp; live analysis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859438" name="Shape 0"/>
          <p:cNvSpPr/>
          <p:nvPr/>
        </p:nvSpPr>
        <p:spPr bwMode="auto">
          <a:xfrm>
            <a:off x="502920" y="384048"/>
            <a:ext cx="621792" cy="621792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161058469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2150" y="533278"/>
            <a:ext cx="323332" cy="323332"/>
          </a:xfrm>
          <a:prstGeom prst="rect">
            <a:avLst/>
          </a:prstGeom>
        </p:spPr>
      </p:pic>
      <p:sp>
        <p:nvSpPr>
          <p:cNvPr id="1958463729" name="Text 1"/>
          <p:cNvSpPr/>
          <p:nvPr/>
        </p:nvSpPr>
        <p:spPr bwMode="auto">
          <a:xfrm>
            <a:off x="1298448" y="3657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2395B"/>
                </a:solidFill>
                <a:latin typeface="Cambria"/>
                <a:ea typeface="Cambria"/>
                <a:cs typeface="Cambria"/>
              </a:rPr>
              <a:t>Model &amp; Prediction Process</a:t>
            </a:r>
            <a:endParaRPr lang="en-US" sz="3000"/>
          </a:p>
        </p:txBody>
      </p:sp>
      <p:sp>
        <p:nvSpPr>
          <p:cNvPr id="648188090" name="Text 2"/>
          <p:cNvSpPr/>
          <p:nvPr/>
        </p:nvSpPr>
        <p:spPr bwMode="auto"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09 / 15</a:t>
            </a:r>
            <a:endParaRPr lang="en-US" sz="900"/>
          </a:p>
        </p:txBody>
      </p:sp>
      <p:sp>
        <p:nvSpPr>
          <p:cNvPr id="1920421970" name="Shape 3"/>
          <p:cNvSpPr/>
          <p:nvPr/>
        </p:nvSpPr>
        <p:spPr bwMode="auto">
          <a:xfrm>
            <a:off x="655168" y="1691640"/>
            <a:ext cx="251460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  <a:effectLst>
            <a:outerShdw blurRad="76200" dist="25400" dir="5400000" sx="100000" sy="100000" kx="0" ky="0" algn="bl" rotWithShape="0">
              <a:srgbClr val="1B2A3B">
                <a:alpha val="10000"/>
              </a:srgbClr>
            </a:outerShdw>
          </a:effectLst>
        </p:spPr>
      </p:sp>
      <p:sp>
        <p:nvSpPr>
          <p:cNvPr id="1015368786" name="Shape 4"/>
          <p:cNvSpPr/>
          <p:nvPr/>
        </p:nvSpPr>
        <p:spPr bwMode="auto">
          <a:xfrm>
            <a:off x="1619860" y="1856232"/>
            <a:ext cx="585216" cy="585216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219992109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760311" y="1996684"/>
            <a:ext cx="304312" cy="304312"/>
          </a:xfrm>
          <a:prstGeom prst="rect">
            <a:avLst/>
          </a:prstGeom>
        </p:spPr>
      </p:pic>
      <p:sp>
        <p:nvSpPr>
          <p:cNvPr id="1447532248" name="Text 5"/>
          <p:cNvSpPr/>
          <p:nvPr/>
        </p:nvSpPr>
        <p:spPr bwMode="auto">
          <a:xfrm>
            <a:off x="728320" y="253288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Frame Capture</a:t>
            </a:r>
            <a:endParaRPr lang="en-US" sz="1300"/>
          </a:p>
        </p:txBody>
      </p:sp>
      <p:sp>
        <p:nvSpPr>
          <p:cNvPr id="332132330" name="Text 6"/>
          <p:cNvSpPr/>
          <p:nvPr/>
        </p:nvSpPr>
        <p:spPr bwMode="auto">
          <a:xfrm>
            <a:off x="746608" y="2862072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One video frame is grabbed</a:t>
            </a:r>
            <a:endParaRPr lang="en-US" sz="1050"/>
          </a:p>
        </p:txBody>
      </p:sp>
      <p:sp>
        <p:nvSpPr>
          <p:cNvPr id="1263234917" name="Shape 7"/>
          <p:cNvSpPr/>
          <p:nvPr/>
        </p:nvSpPr>
        <p:spPr bwMode="auto">
          <a:xfrm>
            <a:off x="3188056" y="2921508"/>
            <a:ext cx="237744" cy="5486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86DE"/>
          </a:solidFill>
          <a:ln/>
        </p:spPr>
      </p:sp>
      <p:sp>
        <p:nvSpPr>
          <p:cNvPr id="576054330" name="Shape 8"/>
          <p:cNvSpPr/>
          <p:nvPr/>
        </p:nvSpPr>
        <p:spPr bwMode="auto">
          <a:xfrm>
            <a:off x="3444088" y="1691640"/>
            <a:ext cx="251460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  <a:effectLst>
            <a:outerShdw blurRad="76200" dist="25400" dir="5400000" sx="100000" sy="100000" kx="0" ky="0" algn="bl" rotWithShape="0">
              <a:srgbClr val="1B2A3B">
                <a:alpha val="10000"/>
              </a:srgbClr>
            </a:outerShdw>
          </a:effectLst>
        </p:spPr>
      </p:sp>
      <p:sp>
        <p:nvSpPr>
          <p:cNvPr id="1512075743" name="Shape 9"/>
          <p:cNvSpPr/>
          <p:nvPr/>
        </p:nvSpPr>
        <p:spPr bwMode="auto">
          <a:xfrm>
            <a:off x="4408780" y="1856232"/>
            <a:ext cx="585216" cy="585216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906674762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549231" y="1996684"/>
            <a:ext cx="304312" cy="304312"/>
          </a:xfrm>
          <a:prstGeom prst="rect">
            <a:avLst/>
          </a:prstGeom>
        </p:spPr>
      </p:pic>
      <p:sp>
        <p:nvSpPr>
          <p:cNvPr id="1854721705" name="Text 10"/>
          <p:cNvSpPr/>
          <p:nvPr/>
        </p:nvSpPr>
        <p:spPr bwMode="auto">
          <a:xfrm>
            <a:off x="3517240" y="253288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Landmark &amp; Blendshape Extraction</a:t>
            </a:r>
            <a:endParaRPr lang="en-US" sz="1300"/>
          </a:p>
        </p:txBody>
      </p:sp>
      <p:sp>
        <p:nvSpPr>
          <p:cNvPr id="1890965706" name="Text 11"/>
          <p:cNvSpPr/>
          <p:nvPr/>
        </p:nvSpPr>
        <p:spPr bwMode="auto">
          <a:xfrm>
            <a:off x="3535527" y="2921508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MediaPipe FaceLandmarker returns 478 landmarks + 52 expression blendshapes</a:t>
            </a:r>
            <a:endParaRPr lang="en-US" sz="1050"/>
          </a:p>
        </p:txBody>
      </p:sp>
      <p:sp>
        <p:nvSpPr>
          <p:cNvPr id="1998116976" name="Shape 12"/>
          <p:cNvSpPr/>
          <p:nvPr/>
        </p:nvSpPr>
        <p:spPr bwMode="auto">
          <a:xfrm>
            <a:off x="5976976" y="2921508"/>
            <a:ext cx="237744" cy="5486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86DE"/>
          </a:solidFill>
          <a:ln/>
        </p:spPr>
      </p:sp>
      <p:sp>
        <p:nvSpPr>
          <p:cNvPr id="928355419" name="Shape 13"/>
          <p:cNvSpPr/>
          <p:nvPr/>
        </p:nvSpPr>
        <p:spPr bwMode="auto">
          <a:xfrm>
            <a:off x="6233008" y="1691640"/>
            <a:ext cx="251460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  <a:effectLst>
            <a:outerShdw blurRad="76200" dist="25400" dir="5400000" sx="100000" sy="100000" kx="0" ky="0" algn="bl" rotWithShape="0">
              <a:srgbClr val="1B2A3B">
                <a:alpha val="10000"/>
              </a:srgbClr>
            </a:outerShdw>
          </a:effectLst>
        </p:spPr>
      </p:sp>
      <p:sp>
        <p:nvSpPr>
          <p:cNvPr id="1945009471" name="Shape 14"/>
          <p:cNvSpPr/>
          <p:nvPr/>
        </p:nvSpPr>
        <p:spPr bwMode="auto">
          <a:xfrm>
            <a:off x="7197700" y="1856232"/>
            <a:ext cx="585216" cy="585216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1702662700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338151" y="1996684"/>
            <a:ext cx="304312" cy="304312"/>
          </a:xfrm>
          <a:prstGeom prst="rect">
            <a:avLst/>
          </a:prstGeom>
        </p:spPr>
      </p:pic>
      <p:sp>
        <p:nvSpPr>
          <p:cNvPr id="1477061044" name="Text 15"/>
          <p:cNvSpPr/>
          <p:nvPr/>
        </p:nvSpPr>
        <p:spPr bwMode="auto">
          <a:xfrm>
            <a:off x="6306160" y="253288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Emotion Scoring</a:t>
            </a:r>
            <a:endParaRPr lang="en-US" sz="1300"/>
          </a:p>
        </p:txBody>
      </p:sp>
      <p:sp>
        <p:nvSpPr>
          <p:cNvPr id="417354065" name="Text 16"/>
          <p:cNvSpPr/>
          <p:nvPr/>
        </p:nvSpPr>
        <p:spPr bwMode="auto">
          <a:xfrm>
            <a:off x="6324447" y="294894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Rule-based mapping of blendshapes to 7 emotions</a:t>
            </a:r>
            <a:endParaRPr lang="en-US" sz="1050"/>
          </a:p>
        </p:txBody>
      </p:sp>
      <p:sp>
        <p:nvSpPr>
          <p:cNvPr id="697416168" name="Shape 17"/>
          <p:cNvSpPr/>
          <p:nvPr/>
        </p:nvSpPr>
        <p:spPr bwMode="auto">
          <a:xfrm>
            <a:off x="8765896" y="2921508"/>
            <a:ext cx="237744" cy="5486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86DE"/>
          </a:solidFill>
          <a:ln/>
        </p:spPr>
      </p:sp>
      <p:sp>
        <p:nvSpPr>
          <p:cNvPr id="1333779332" name="Shape 18"/>
          <p:cNvSpPr/>
          <p:nvPr/>
        </p:nvSpPr>
        <p:spPr bwMode="auto">
          <a:xfrm>
            <a:off x="9021928" y="1691640"/>
            <a:ext cx="251460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  <a:effectLst>
            <a:outerShdw blurRad="76200" dist="25400" dir="5400000" sx="100000" sy="100000" kx="0" ky="0" algn="bl" rotWithShape="0">
              <a:srgbClr val="1B2A3B">
                <a:alpha val="10000"/>
              </a:srgbClr>
            </a:outerShdw>
          </a:effectLst>
        </p:spPr>
      </p:sp>
      <p:sp>
        <p:nvSpPr>
          <p:cNvPr id="1925974052" name="Shape 19"/>
          <p:cNvSpPr/>
          <p:nvPr/>
        </p:nvSpPr>
        <p:spPr bwMode="auto">
          <a:xfrm>
            <a:off x="9986620" y="1856232"/>
            <a:ext cx="585216" cy="585216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96183812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0127070" y="1996684"/>
            <a:ext cx="304312" cy="304312"/>
          </a:xfrm>
          <a:prstGeom prst="rect">
            <a:avLst/>
          </a:prstGeom>
        </p:spPr>
      </p:pic>
      <p:sp>
        <p:nvSpPr>
          <p:cNvPr id="1677105306" name="Text 20"/>
          <p:cNvSpPr/>
          <p:nvPr/>
        </p:nvSpPr>
        <p:spPr bwMode="auto">
          <a:xfrm>
            <a:off x="9095080" y="253288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Pose &amp; Gaze Scoring</a:t>
            </a:r>
            <a:endParaRPr lang="en-US" sz="1300"/>
          </a:p>
        </p:txBody>
      </p:sp>
      <p:sp>
        <p:nvSpPr>
          <p:cNvPr id="1631363212" name="Text 21"/>
          <p:cNvSpPr/>
          <p:nvPr/>
        </p:nvSpPr>
        <p:spPr bwMode="auto">
          <a:xfrm>
            <a:off x="9113368" y="2862072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Head yaw/pitch → eye contact &amp; attention flags</a:t>
            </a:r>
            <a:endParaRPr lang="en-US" sz="1050"/>
          </a:p>
        </p:txBody>
      </p:sp>
      <p:sp>
        <p:nvSpPr>
          <p:cNvPr id="559661579" name="Shape 22"/>
          <p:cNvSpPr/>
          <p:nvPr/>
        </p:nvSpPr>
        <p:spPr bwMode="auto">
          <a:xfrm>
            <a:off x="777240" y="4526280"/>
            <a:ext cx="10607040" cy="1234440"/>
          </a:xfrm>
          <a:prstGeom prst="roundRect">
            <a:avLst>
              <a:gd name="adj" fmla="val 7407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305082914" name="Text 23"/>
          <p:cNvSpPr/>
          <p:nvPr/>
        </p:nvSpPr>
        <p:spPr bwMode="auto">
          <a:xfrm>
            <a:off x="1051560" y="470916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Per-frame result: </a:t>
            </a:r>
            <a:r>
              <a:rPr lang="en-US" sz="13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dominant emotion, head yaw/pitch/roll, eye-contact flag, and attention flag — aggregated across all frames to produce the final report.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654635" name="Shape 0"/>
          <p:cNvSpPr/>
          <p:nvPr/>
        </p:nvSpPr>
        <p:spPr bwMode="auto">
          <a:xfrm>
            <a:off x="502920" y="384048"/>
            <a:ext cx="621792" cy="621792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52980464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2150" y="533278"/>
            <a:ext cx="323332" cy="323332"/>
          </a:xfrm>
          <a:prstGeom prst="rect">
            <a:avLst/>
          </a:prstGeom>
        </p:spPr>
      </p:pic>
      <p:sp>
        <p:nvSpPr>
          <p:cNvPr id="1784950602" name="Text 1"/>
          <p:cNvSpPr/>
          <p:nvPr/>
        </p:nvSpPr>
        <p:spPr bwMode="auto">
          <a:xfrm>
            <a:off x="1298448" y="3657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2395B"/>
                </a:solidFill>
                <a:latin typeface="Cambria"/>
                <a:ea typeface="Cambria"/>
                <a:cs typeface="Cambria"/>
              </a:rPr>
              <a:t>Streamlit User Interface</a:t>
            </a:r>
            <a:endParaRPr lang="en-US" sz="3000"/>
          </a:p>
        </p:txBody>
      </p:sp>
      <p:sp>
        <p:nvSpPr>
          <p:cNvPr id="119353304" name="Text 2"/>
          <p:cNvSpPr/>
          <p:nvPr/>
        </p:nvSpPr>
        <p:spPr bwMode="auto"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10 / 15</a:t>
            </a:r>
            <a:endParaRPr lang="en-US" sz="900"/>
          </a:p>
        </p:txBody>
      </p:sp>
      <p:pic>
        <p:nvPicPr>
          <p:cNvPr id="122901322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017519" y="2770632"/>
            <a:ext cx="502920" cy="502920"/>
          </a:xfrm>
          <a:prstGeom prst="rect">
            <a:avLst/>
          </a:prstGeom>
        </p:spPr>
      </p:pic>
      <p:sp>
        <p:nvSpPr>
          <p:cNvPr id="1852347739" name="Text 4"/>
          <p:cNvSpPr/>
          <p:nvPr/>
        </p:nvSpPr>
        <p:spPr bwMode="auto">
          <a:xfrm>
            <a:off x="822960" y="3332988"/>
            <a:ext cx="48920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[ Screenshot: Upload Video Tab ]</a:t>
            </a:r>
            <a:endParaRPr lang="en-US" sz="1300"/>
          </a:p>
        </p:txBody>
      </p:sp>
      <p:sp>
        <p:nvSpPr>
          <p:cNvPr id="1404240076" name="Text 5"/>
          <p:cNvSpPr/>
          <p:nvPr/>
        </p:nvSpPr>
        <p:spPr bwMode="auto">
          <a:xfrm>
            <a:off x="822960" y="3634740"/>
            <a:ext cx="48920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Report with emotion chart &amp; metrics</a:t>
            </a:r>
            <a:endParaRPr lang="en-US" sz="1000"/>
          </a:p>
        </p:txBody>
      </p:sp>
      <p:pic>
        <p:nvPicPr>
          <p:cNvPr id="79586215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641080" y="2770632"/>
            <a:ext cx="502920" cy="502920"/>
          </a:xfrm>
          <a:prstGeom prst="rect">
            <a:avLst/>
          </a:prstGeom>
        </p:spPr>
      </p:pic>
      <p:sp>
        <p:nvSpPr>
          <p:cNvPr id="317692990" name="Text 7"/>
          <p:cNvSpPr/>
          <p:nvPr/>
        </p:nvSpPr>
        <p:spPr bwMode="auto">
          <a:xfrm>
            <a:off x="6446520" y="3332988"/>
            <a:ext cx="48920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[ Screenshot: Live Webcam Tab ]</a:t>
            </a:r>
            <a:endParaRPr lang="en-US" sz="1300"/>
          </a:p>
        </p:txBody>
      </p:sp>
      <p:sp>
        <p:nvSpPr>
          <p:cNvPr id="734954960" name="Text 8"/>
          <p:cNvSpPr/>
          <p:nvPr/>
        </p:nvSpPr>
        <p:spPr bwMode="auto">
          <a:xfrm>
            <a:off x="6446520" y="3634740"/>
            <a:ext cx="48920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Real-time metrics while recording</a:t>
            </a:r>
            <a:endParaRPr lang="en-US" sz="1000"/>
          </a:p>
        </p:txBody>
      </p:sp>
      <p:sp>
        <p:nvSpPr>
          <p:cNvPr id="1488456573" name="Text 9"/>
          <p:cNvSpPr/>
          <p:nvPr/>
        </p:nvSpPr>
        <p:spPr bwMode="auto">
          <a:xfrm>
            <a:off x="777240" y="507492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●"/>
              <a:defRPr/>
            </a:pPr>
            <a:r>
              <a:rPr lang="en-US" sz="1250">
                <a:solidFill>
                  <a:srgbClr val="17293D"/>
                </a:solidFill>
                <a:latin typeface="Calibri"/>
                <a:ea typeface="Calibri"/>
                <a:cs typeface="Calibri"/>
              </a:rPr>
              <a:t>Upload a recorded interview or run live webcam analysis</a:t>
            </a:r>
            <a:endParaRPr lang="en-US" sz="1250"/>
          </a:p>
          <a:p>
            <a:pPr marL="203200" indent="-203200">
              <a:spcAft>
                <a:spcPts val="600"/>
              </a:spcAft>
              <a:buSzPct val="100000"/>
              <a:buChar char="●"/>
              <a:defRPr/>
            </a:pPr>
            <a:r>
              <a:rPr lang="en-US" sz="1250">
                <a:solidFill>
                  <a:srgbClr val="17293D"/>
                </a:solidFill>
                <a:latin typeface="Calibri"/>
                <a:ea typeface="Calibri"/>
                <a:cs typeface="Calibri"/>
              </a:rPr>
              <a:t>Live progress bar and running engagement metrics</a:t>
            </a:r>
            <a:endParaRPr lang="en-US" sz="1250"/>
          </a:p>
          <a:p>
            <a:pPr marL="203200" indent="-203200">
              <a:spcAft>
                <a:spcPts val="600"/>
              </a:spcAft>
              <a:buSzPct val="100000"/>
              <a:buChar char="●"/>
              <a:defRPr/>
            </a:pPr>
            <a:r>
              <a:rPr lang="en-US" sz="1250">
                <a:solidFill>
                  <a:srgbClr val="17293D"/>
                </a:solidFill>
                <a:latin typeface="Calibri"/>
                <a:ea typeface="Calibri"/>
                <a:cs typeface="Calibri"/>
              </a:rPr>
              <a:t>Downloadable report in text and JSON format</a:t>
            </a:r>
            <a:endParaRPr lang="en-US" sz="1250"/>
          </a:p>
        </p:txBody>
      </p:sp>
      <p:pic>
        <p:nvPicPr>
          <p:cNvPr id="1018236889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52149" y="1571171"/>
            <a:ext cx="5416944" cy="3275148"/>
          </a:xfrm>
          <a:prstGeom prst="rect">
            <a:avLst/>
          </a:prstGeom>
        </p:spPr>
      </p:pic>
      <p:pic>
        <p:nvPicPr>
          <p:cNvPr id="1189187931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6307499" y="1571171"/>
            <a:ext cx="5543550" cy="32751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890838" name="Shape 0"/>
          <p:cNvSpPr/>
          <p:nvPr/>
        </p:nvSpPr>
        <p:spPr bwMode="auto">
          <a:xfrm>
            <a:off x="502920" y="384048"/>
            <a:ext cx="621792" cy="621792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73010026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2150" y="533278"/>
            <a:ext cx="323332" cy="323332"/>
          </a:xfrm>
          <a:prstGeom prst="rect">
            <a:avLst/>
          </a:prstGeom>
        </p:spPr>
      </p:pic>
      <p:sp>
        <p:nvSpPr>
          <p:cNvPr id="1268180284" name="Text 1"/>
          <p:cNvSpPr/>
          <p:nvPr/>
        </p:nvSpPr>
        <p:spPr bwMode="auto">
          <a:xfrm>
            <a:off x="1298448" y="3657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2395B"/>
                </a:solidFill>
                <a:latin typeface="Cambria"/>
                <a:ea typeface="Cambria"/>
                <a:cs typeface="Cambria"/>
              </a:rPr>
              <a:t>Results &amp; Performance Analysis</a:t>
            </a:r>
            <a:endParaRPr lang="en-US" sz="3000"/>
          </a:p>
        </p:txBody>
      </p:sp>
      <p:sp>
        <p:nvSpPr>
          <p:cNvPr id="1932215343" name="Text 2"/>
          <p:cNvSpPr/>
          <p:nvPr/>
        </p:nvSpPr>
        <p:spPr bwMode="auto"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11 / 15</a:t>
            </a:r>
            <a:endParaRPr lang="en-US" sz="900"/>
          </a:p>
        </p:txBody>
      </p:sp>
      <p:pic>
        <p:nvPicPr>
          <p:cNvPr id="338809913" name="Image 5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829300" y="4233672"/>
            <a:ext cx="502920" cy="502920"/>
          </a:xfrm>
          <a:prstGeom prst="rect">
            <a:avLst/>
          </a:prstGeom>
        </p:spPr>
      </p:pic>
      <p:sp>
        <p:nvSpPr>
          <p:cNvPr id="650872152" name="Text 16"/>
          <p:cNvSpPr/>
          <p:nvPr/>
        </p:nvSpPr>
        <p:spPr bwMode="auto">
          <a:xfrm>
            <a:off x="960120" y="47960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[ Screenshot: Sample Candidate Report / Emotion Chart ]</a:t>
            </a:r>
            <a:endParaRPr lang="en-US" sz="1300"/>
          </a:p>
        </p:txBody>
      </p:sp>
      <p:sp>
        <p:nvSpPr>
          <p:cNvPr id="2100627652" name="Text 17"/>
          <p:cNvSpPr/>
          <p:nvPr/>
        </p:nvSpPr>
        <p:spPr bwMode="auto">
          <a:xfrm>
            <a:off x="960120" y="509778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Insert results from a test interview session</a:t>
            </a:r>
            <a:endParaRPr lang="en-US" sz="1000"/>
          </a:p>
        </p:txBody>
      </p:sp>
      <p:pic>
        <p:nvPicPr>
          <p:cNvPr id="64100115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99159" y="1051560"/>
            <a:ext cx="10363199" cy="5356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083633" name="Shape 0"/>
          <p:cNvSpPr/>
          <p:nvPr/>
        </p:nvSpPr>
        <p:spPr bwMode="auto">
          <a:xfrm>
            <a:off x="502920" y="384048"/>
            <a:ext cx="621792" cy="621792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208028456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2150" y="533278"/>
            <a:ext cx="323332" cy="323332"/>
          </a:xfrm>
          <a:prstGeom prst="rect">
            <a:avLst/>
          </a:prstGeom>
        </p:spPr>
      </p:pic>
      <p:sp>
        <p:nvSpPr>
          <p:cNvPr id="1362471028" name="Text 1"/>
          <p:cNvSpPr/>
          <p:nvPr/>
        </p:nvSpPr>
        <p:spPr bwMode="auto">
          <a:xfrm>
            <a:off x="1298448" y="3657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2395B"/>
                </a:solidFill>
                <a:latin typeface="Cambria"/>
                <a:ea typeface="Cambria"/>
                <a:cs typeface="Cambria"/>
              </a:rPr>
              <a:t>Advantages</a:t>
            </a:r>
            <a:endParaRPr lang="en-US" sz="3000"/>
          </a:p>
        </p:txBody>
      </p:sp>
      <p:sp>
        <p:nvSpPr>
          <p:cNvPr id="1442153450" name="Text 2"/>
          <p:cNvSpPr/>
          <p:nvPr/>
        </p:nvSpPr>
        <p:spPr bwMode="auto"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12 / 15</a:t>
            </a:r>
            <a:endParaRPr lang="en-US" sz="900"/>
          </a:p>
        </p:txBody>
      </p:sp>
      <p:sp>
        <p:nvSpPr>
          <p:cNvPr id="1492536303" name="Shape 3"/>
          <p:cNvSpPr/>
          <p:nvPr/>
        </p:nvSpPr>
        <p:spPr bwMode="auto">
          <a:xfrm>
            <a:off x="548640" y="16002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1874110120" name="Shape 4"/>
          <p:cNvSpPr/>
          <p:nvPr/>
        </p:nvSpPr>
        <p:spPr bwMode="auto">
          <a:xfrm>
            <a:off x="2034540" y="1801367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69244877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166214" y="1933042"/>
            <a:ext cx="285293" cy="285293"/>
          </a:xfrm>
          <a:prstGeom prst="rect">
            <a:avLst/>
          </a:prstGeom>
        </p:spPr>
      </p:pic>
      <p:sp>
        <p:nvSpPr>
          <p:cNvPr id="1332965654" name="Text 5"/>
          <p:cNvSpPr/>
          <p:nvPr/>
        </p:nvSpPr>
        <p:spPr bwMode="auto">
          <a:xfrm>
            <a:off x="685800" y="2468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Objective Evaluation</a:t>
            </a:r>
            <a:endParaRPr lang="en-US" sz="1300"/>
          </a:p>
        </p:txBody>
      </p:sp>
      <p:sp>
        <p:nvSpPr>
          <p:cNvPr id="660825644" name="Text 6"/>
          <p:cNvSpPr/>
          <p:nvPr/>
        </p:nvSpPr>
        <p:spPr bwMode="auto">
          <a:xfrm>
            <a:off x="685800" y="281635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Removes subjective interviewer bias from assessment</a:t>
            </a:r>
            <a:endParaRPr lang="en-US" sz="1050"/>
          </a:p>
        </p:txBody>
      </p:sp>
      <p:sp>
        <p:nvSpPr>
          <p:cNvPr id="1007660649" name="Shape 7"/>
          <p:cNvSpPr/>
          <p:nvPr/>
        </p:nvSpPr>
        <p:spPr bwMode="auto">
          <a:xfrm>
            <a:off x="4297680" y="16002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2036877537" name="Shape 8"/>
          <p:cNvSpPr/>
          <p:nvPr/>
        </p:nvSpPr>
        <p:spPr bwMode="auto">
          <a:xfrm>
            <a:off x="5783580" y="1801367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69771215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915254" y="1933042"/>
            <a:ext cx="285293" cy="285293"/>
          </a:xfrm>
          <a:prstGeom prst="rect">
            <a:avLst/>
          </a:prstGeom>
        </p:spPr>
      </p:pic>
      <p:sp>
        <p:nvSpPr>
          <p:cNvPr id="1954833762" name="Text 9"/>
          <p:cNvSpPr/>
          <p:nvPr/>
        </p:nvSpPr>
        <p:spPr bwMode="auto">
          <a:xfrm>
            <a:off x="4434840" y="2468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Real-Time Feedback</a:t>
            </a:r>
            <a:endParaRPr lang="en-US" sz="1300"/>
          </a:p>
        </p:txBody>
      </p:sp>
      <p:sp>
        <p:nvSpPr>
          <p:cNvPr id="241768490" name="Text 10"/>
          <p:cNvSpPr/>
          <p:nvPr/>
        </p:nvSpPr>
        <p:spPr bwMode="auto">
          <a:xfrm>
            <a:off x="4434840" y="281635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Live metrics available during the interview itself</a:t>
            </a:r>
            <a:endParaRPr lang="en-US" sz="1050"/>
          </a:p>
        </p:txBody>
      </p:sp>
      <p:sp>
        <p:nvSpPr>
          <p:cNvPr id="73626539" name="Shape 11"/>
          <p:cNvSpPr/>
          <p:nvPr/>
        </p:nvSpPr>
        <p:spPr bwMode="auto">
          <a:xfrm>
            <a:off x="8046720" y="16002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314095431" name="Shape 12"/>
          <p:cNvSpPr/>
          <p:nvPr/>
        </p:nvSpPr>
        <p:spPr bwMode="auto">
          <a:xfrm>
            <a:off x="9532620" y="1801367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35667549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664294" y="1933042"/>
            <a:ext cx="285293" cy="285293"/>
          </a:xfrm>
          <a:prstGeom prst="rect">
            <a:avLst/>
          </a:prstGeom>
        </p:spPr>
      </p:pic>
      <p:sp>
        <p:nvSpPr>
          <p:cNvPr id="1978746243" name="Text 13"/>
          <p:cNvSpPr/>
          <p:nvPr/>
        </p:nvSpPr>
        <p:spPr bwMode="auto">
          <a:xfrm>
            <a:off x="8183880" y="2468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Works Offline</a:t>
            </a:r>
            <a:endParaRPr lang="en-US" sz="1300"/>
          </a:p>
        </p:txBody>
      </p:sp>
      <p:sp>
        <p:nvSpPr>
          <p:cNvPr id="388667294" name="Text 14"/>
          <p:cNvSpPr/>
          <p:nvPr/>
        </p:nvSpPr>
        <p:spPr bwMode="auto">
          <a:xfrm>
            <a:off x="8183880" y="281635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Runs locally — no data leaves the interviewer’s machine</a:t>
            </a:r>
            <a:endParaRPr lang="en-US" sz="1050"/>
          </a:p>
        </p:txBody>
      </p:sp>
      <p:sp>
        <p:nvSpPr>
          <p:cNvPr id="1853155828" name="Shape 15"/>
          <p:cNvSpPr/>
          <p:nvPr/>
        </p:nvSpPr>
        <p:spPr bwMode="auto">
          <a:xfrm>
            <a:off x="548640" y="3685032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1552384172" name="Shape 16"/>
          <p:cNvSpPr/>
          <p:nvPr/>
        </p:nvSpPr>
        <p:spPr bwMode="auto">
          <a:xfrm>
            <a:off x="2034540" y="3886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46014432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2166214" y="4017874"/>
            <a:ext cx="285293" cy="285293"/>
          </a:xfrm>
          <a:prstGeom prst="rect">
            <a:avLst/>
          </a:prstGeom>
        </p:spPr>
      </p:pic>
      <p:sp>
        <p:nvSpPr>
          <p:cNvPr id="1750153730" name="Text 17"/>
          <p:cNvSpPr/>
          <p:nvPr/>
        </p:nvSpPr>
        <p:spPr bwMode="auto">
          <a:xfrm>
            <a:off x="685800" y="45537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Easy to Use</a:t>
            </a:r>
            <a:endParaRPr lang="en-US" sz="1300"/>
          </a:p>
        </p:txBody>
      </p:sp>
      <p:sp>
        <p:nvSpPr>
          <p:cNvPr id="579255831" name="Text 18"/>
          <p:cNvSpPr/>
          <p:nvPr/>
        </p:nvSpPr>
        <p:spPr bwMode="auto">
          <a:xfrm>
            <a:off x="685800" y="490118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Simple web interface, no technical expertise required</a:t>
            </a:r>
            <a:endParaRPr lang="en-US" sz="1050"/>
          </a:p>
        </p:txBody>
      </p:sp>
      <p:sp>
        <p:nvSpPr>
          <p:cNvPr id="2042443328" name="Shape 19"/>
          <p:cNvSpPr/>
          <p:nvPr/>
        </p:nvSpPr>
        <p:spPr bwMode="auto">
          <a:xfrm>
            <a:off x="4297680" y="3685032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1872084018" name="Shape 20"/>
          <p:cNvSpPr/>
          <p:nvPr/>
        </p:nvSpPr>
        <p:spPr bwMode="auto">
          <a:xfrm>
            <a:off x="5783580" y="3886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21532088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5915254" y="4017874"/>
            <a:ext cx="285293" cy="285293"/>
          </a:xfrm>
          <a:prstGeom prst="rect">
            <a:avLst/>
          </a:prstGeom>
        </p:spPr>
      </p:pic>
      <p:sp>
        <p:nvSpPr>
          <p:cNvPr id="647284507" name="Text 21"/>
          <p:cNvSpPr/>
          <p:nvPr/>
        </p:nvSpPr>
        <p:spPr bwMode="auto">
          <a:xfrm>
            <a:off x="4434840" y="45537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Structured Reports</a:t>
            </a:r>
            <a:endParaRPr lang="en-US" sz="1300"/>
          </a:p>
        </p:txBody>
      </p:sp>
      <p:sp>
        <p:nvSpPr>
          <p:cNvPr id="1823795738" name="Text 22"/>
          <p:cNvSpPr/>
          <p:nvPr/>
        </p:nvSpPr>
        <p:spPr bwMode="auto">
          <a:xfrm>
            <a:off x="4434840" y="490118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Quantifiable, comparable results across candidates</a:t>
            </a:r>
            <a:endParaRPr lang="en-US" sz="1050"/>
          </a:p>
        </p:txBody>
      </p:sp>
      <p:sp>
        <p:nvSpPr>
          <p:cNvPr id="1622335434" name="Shape 23"/>
          <p:cNvSpPr/>
          <p:nvPr/>
        </p:nvSpPr>
        <p:spPr bwMode="auto">
          <a:xfrm>
            <a:off x="8046720" y="3685032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1876611554" name="Shape 24"/>
          <p:cNvSpPr/>
          <p:nvPr/>
        </p:nvSpPr>
        <p:spPr bwMode="auto">
          <a:xfrm>
            <a:off x="9532620" y="3886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56179388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9664294" y="4017874"/>
            <a:ext cx="285293" cy="285293"/>
          </a:xfrm>
          <a:prstGeom prst="rect">
            <a:avLst/>
          </a:prstGeom>
        </p:spPr>
      </p:pic>
      <p:sp>
        <p:nvSpPr>
          <p:cNvPr id="889627494" name="Text 25"/>
          <p:cNvSpPr/>
          <p:nvPr/>
        </p:nvSpPr>
        <p:spPr bwMode="auto">
          <a:xfrm>
            <a:off x="8183880" y="45537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Saves Time</a:t>
            </a:r>
            <a:endParaRPr lang="en-US" sz="1300"/>
          </a:p>
        </p:txBody>
      </p:sp>
      <p:sp>
        <p:nvSpPr>
          <p:cNvPr id="1311397160" name="Text 26"/>
          <p:cNvSpPr/>
          <p:nvPr/>
        </p:nvSpPr>
        <p:spPr bwMode="auto">
          <a:xfrm>
            <a:off x="8183880" y="490118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Automated analysis reduces manual review effort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524618" name="Shape 0"/>
          <p:cNvSpPr/>
          <p:nvPr/>
        </p:nvSpPr>
        <p:spPr bwMode="auto">
          <a:xfrm>
            <a:off x="502920" y="384048"/>
            <a:ext cx="621792" cy="621792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128535483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2150" y="533278"/>
            <a:ext cx="323332" cy="323332"/>
          </a:xfrm>
          <a:prstGeom prst="rect">
            <a:avLst/>
          </a:prstGeom>
        </p:spPr>
      </p:pic>
      <p:sp>
        <p:nvSpPr>
          <p:cNvPr id="237263697" name="Text 1"/>
          <p:cNvSpPr/>
          <p:nvPr/>
        </p:nvSpPr>
        <p:spPr bwMode="auto">
          <a:xfrm>
            <a:off x="1298448" y="3657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2395B"/>
                </a:solidFill>
                <a:latin typeface="Cambria"/>
                <a:ea typeface="Cambria"/>
                <a:cs typeface="Cambria"/>
              </a:rPr>
              <a:t>Conclusion</a:t>
            </a:r>
            <a:endParaRPr lang="en-US" sz="3000"/>
          </a:p>
        </p:txBody>
      </p:sp>
      <p:sp>
        <p:nvSpPr>
          <p:cNvPr id="561033116" name="Text 2"/>
          <p:cNvSpPr/>
          <p:nvPr/>
        </p:nvSpPr>
        <p:spPr bwMode="auto"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13 / 15</a:t>
            </a:r>
            <a:endParaRPr lang="en-US" sz="900"/>
          </a:p>
        </p:txBody>
      </p:sp>
      <p:sp>
        <p:nvSpPr>
          <p:cNvPr id="1121637415" name="Text 3"/>
          <p:cNvSpPr/>
          <p:nvPr/>
        </p:nvSpPr>
        <p:spPr bwMode="auto">
          <a:xfrm>
            <a:off x="777240" y="2057399"/>
            <a:ext cx="6492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●"/>
              <a:defRPr/>
            </a:pPr>
            <a:r>
              <a:rPr lang="en-US" sz="1550">
                <a:solidFill>
                  <a:srgbClr val="17293D"/>
                </a:solidFill>
                <a:latin typeface="Calibri"/>
                <a:ea typeface="Calibri"/>
                <a:cs typeface="Calibri"/>
              </a:rPr>
              <a:t>The project successfully demonstrates real-time facial analysis for interview evaluation.</a:t>
            </a:r>
            <a:endParaRPr lang="en-US" sz="1550"/>
          </a:p>
          <a:p>
            <a:pPr marL="228600" indent="-228600" algn="l">
              <a:spcAft>
                <a:spcPts val="1200"/>
              </a:spcAft>
              <a:buSzPct val="100000"/>
              <a:buChar char="●"/>
              <a:defRPr/>
            </a:pPr>
            <a:r>
              <a:rPr lang="en-US" sz="1550">
                <a:solidFill>
                  <a:srgbClr val="17293D"/>
                </a:solidFill>
                <a:latin typeface="Calibri"/>
                <a:ea typeface="Calibri"/>
                <a:cs typeface="Calibri"/>
              </a:rPr>
              <a:t>Face detection, emotion recognition, and attention tracking were integrated into one working pipeline.</a:t>
            </a:r>
            <a:endParaRPr lang="en-US" sz="1550"/>
          </a:p>
          <a:p>
            <a:pPr marL="228600" indent="-228600" algn="l">
              <a:spcAft>
                <a:spcPts val="1200"/>
              </a:spcAft>
              <a:buSzPct val="100000"/>
              <a:buChar char="●"/>
              <a:defRPr/>
            </a:pPr>
            <a:r>
              <a:rPr lang="en-US" sz="1550">
                <a:solidFill>
                  <a:srgbClr val="17293D"/>
                </a:solidFill>
                <a:latin typeface="Calibri"/>
                <a:ea typeface="Calibri"/>
                <a:cs typeface="Calibri"/>
              </a:rPr>
              <a:t>The Streamlit interface makes the tool accessible to non-technical interviewers.</a:t>
            </a:r>
            <a:endParaRPr lang="en-US" sz="1550"/>
          </a:p>
          <a:p>
            <a:pPr marL="228600" indent="-228600" algn="l">
              <a:spcAft>
                <a:spcPts val="1200"/>
              </a:spcAft>
              <a:buSzPct val="100000"/>
              <a:buChar char="●"/>
              <a:defRPr/>
            </a:pPr>
            <a:r>
              <a:rPr lang="en-US" sz="1550">
                <a:solidFill>
                  <a:srgbClr val="17293D"/>
                </a:solidFill>
                <a:latin typeface="Calibri"/>
                <a:ea typeface="Calibri"/>
                <a:cs typeface="Calibri"/>
              </a:rPr>
              <a:t>The system provides a useful, objective supplement to — not a replacement for — human judgment.</a:t>
            </a:r>
            <a:endParaRPr lang="en-US" sz="1550"/>
          </a:p>
        </p:txBody>
      </p:sp>
      <p:sp>
        <p:nvSpPr>
          <p:cNvPr id="1209818877" name="Shape 4"/>
          <p:cNvSpPr/>
          <p:nvPr/>
        </p:nvSpPr>
        <p:spPr bwMode="auto">
          <a:xfrm flipH="0" flipV="0">
            <a:off x="7635240" y="1737360"/>
            <a:ext cx="3794760" cy="3093175"/>
          </a:xfrm>
          <a:prstGeom prst="roundRect">
            <a:avLst>
              <a:gd name="adj" fmla="val 2410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387985959" name="Shape 5"/>
          <p:cNvSpPr/>
          <p:nvPr/>
        </p:nvSpPr>
        <p:spPr bwMode="auto">
          <a:xfrm>
            <a:off x="795528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59507026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86954" y="2189074"/>
            <a:ext cx="285293" cy="285293"/>
          </a:xfrm>
          <a:prstGeom prst="rect">
            <a:avLst/>
          </a:prstGeom>
        </p:spPr>
      </p:pic>
      <p:sp>
        <p:nvSpPr>
          <p:cNvPr id="1841600507" name="Text 6"/>
          <p:cNvSpPr/>
          <p:nvPr/>
        </p:nvSpPr>
        <p:spPr bwMode="auto">
          <a:xfrm>
            <a:off x="795528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Project Outcome</a:t>
            </a:r>
            <a:endParaRPr lang="en-US" sz="1400"/>
          </a:p>
        </p:txBody>
      </p:sp>
      <p:sp>
        <p:nvSpPr>
          <p:cNvPr id="1515227872" name="Text 7"/>
          <p:cNvSpPr/>
          <p:nvPr/>
        </p:nvSpPr>
        <p:spPr bwMode="auto">
          <a:xfrm>
            <a:off x="7955280" y="315468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A fully functional, modular, offline-capable interview analysis tool built with open-source computer vision technology — achieving all defined project objectives.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491337" name="Shape 0"/>
          <p:cNvSpPr/>
          <p:nvPr/>
        </p:nvSpPr>
        <p:spPr bwMode="auto">
          <a:xfrm>
            <a:off x="502920" y="384048"/>
            <a:ext cx="621792" cy="621792"/>
          </a:xfrm>
          <a:prstGeom prst="ellipse">
            <a:avLst/>
          </a:prstGeom>
          <a:solidFill>
            <a:srgbClr val="12395B"/>
          </a:solidFill>
          <a:ln/>
        </p:spPr>
      </p:sp>
      <p:pic>
        <p:nvPicPr>
          <p:cNvPr id="145738752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2150" y="533278"/>
            <a:ext cx="323332" cy="323332"/>
          </a:xfrm>
          <a:prstGeom prst="rect">
            <a:avLst/>
          </a:prstGeom>
        </p:spPr>
      </p:pic>
      <p:sp>
        <p:nvSpPr>
          <p:cNvPr id="1929073517" name="Text 1"/>
          <p:cNvSpPr/>
          <p:nvPr/>
        </p:nvSpPr>
        <p:spPr bwMode="auto">
          <a:xfrm>
            <a:off x="1298448" y="3657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2395B"/>
                </a:solidFill>
                <a:latin typeface="Cambria"/>
                <a:ea typeface="Cambria"/>
                <a:cs typeface="Cambria"/>
              </a:rPr>
              <a:t>Future Scope</a:t>
            </a:r>
            <a:endParaRPr lang="en-US" sz="3000"/>
          </a:p>
        </p:txBody>
      </p:sp>
      <p:sp>
        <p:nvSpPr>
          <p:cNvPr id="15081609" name="Text 2"/>
          <p:cNvSpPr/>
          <p:nvPr/>
        </p:nvSpPr>
        <p:spPr bwMode="auto"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14 / 15</a:t>
            </a:r>
            <a:endParaRPr lang="en-US" sz="900"/>
          </a:p>
        </p:txBody>
      </p:sp>
      <p:sp>
        <p:nvSpPr>
          <p:cNvPr id="241092938" name="Shape 3"/>
          <p:cNvSpPr/>
          <p:nvPr/>
        </p:nvSpPr>
        <p:spPr bwMode="auto">
          <a:xfrm>
            <a:off x="777240" y="16002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1019672169" name="Shape 4"/>
          <p:cNvSpPr/>
          <p:nvPr/>
        </p:nvSpPr>
        <p:spPr bwMode="auto">
          <a:xfrm>
            <a:off x="1005840" y="1828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3477890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126541" y="1949501"/>
            <a:ext cx="261518" cy="261518"/>
          </a:xfrm>
          <a:prstGeom prst="rect">
            <a:avLst/>
          </a:prstGeom>
        </p:spPr>
      </p:pic>
      <p:sp>
        <p:nvSpPr>
          <p:cNvPr id="1041866344" name="Text 5"/>
          <p:cNvSpPr/>
          <p:nvPr/>
        </p:nvSpPr>
        <p:spPr bwMode="auto">
          <a:xfrm>
            <a:off x="1673352" y="1783080"/>
            <a:ext cx="41605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Deep Learning Emotion Model</a:t>
            </a:r>
            <a:endParaRPr lang="en-US" sz="1400"/>
          </a:p>
        </p:txBody>
      </p:sp>
      <p:sp>
        <p:nvSpPr>
          <p:cNvPr id="472850435" name="Text 6"/>
          <p:cNvSpPr/>
          <p:nvPr/>
        </p:nvSpPr>
        <p:spPr bwMode="auto">
          <a:xfrm>
            <a:off x="1673352" y="2167128"/>
            <a:ext cx="416051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Train a CNN classifier for higher emotion accuracy</a:t>
            </a:r>
            <a:endParaRPr lang="en-US" sz="1150"/>
          </a:p>
        </p:txBody>
      </p:sp>
      <p:sp>
        <p:nvSpPr>
          <p:cNvPr id="86995366" name="Shape 7"/>
          <p:cNvSpPr/>
          <p:nvPr/>
        </p:nvSpPr>
        <p:spPr bwMode="auto">
          <a:xfrm>
            <a:off x="6400800" y="16002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82517524" name="Shape 8"/>
          <p:cNvSpPr/>
          <p:nvPr/>
        </p:nvSpPr>
        <p:spPr bwMode="auto">
          <a:xfrm>
            <a:off x="6629400" y="1828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68059304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750101" y="1949501"/>
            <a:ext cx="261518" cy="261518"/>
          </a:xfrm>
          <a:prstGeom prst="rect">
            <a:avLst/>
          </a:prstGeom>
        </p:spPr>
      </p:pic>
      <p:sp>
        <p:nvSpPr>
          <p:cNvPr id="1485056634" name="Text 9"/>
          <p:cNvSpPr/>
          <p:nvPr/>
        </p:nvSpPr>
        <p:spPr bwMode="auto">
          <a:xfrm>
            <a:off x="7296912" y="1783080"/>
            <a:ext cx="41605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Multi-Face Proctoring</a:t>
            </a:r>
            <a:endParaRPr lang="en-US" sz="1400"/>
          </a:p>
        </p:txBody>
      </p:sp>
      <p:sp>
        <p:nvSpPr>
          <p:cNvPr id="1281181392" name="Text 10"/>
          <p:cNvSpPr/>
          <p:nvPr/>
        </p:nvSpPr>
        <p:spPr bwMode="auto">
          <a:xfrm>
            <a:off x="7296912" y="2167128"/>
            <a:ext cx="416051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Detect additional people in frame for exam integrity</a:t>
            </a:r>
            <a:endParaRPr lang="en-US" sz="1150"/>
          </a:p>
        </p:txBody>
      </p:sp>
      <p:sp>
        <p:nvSpPr>
          <p:cNvPr id="792656973" name="Shape 11"/>
          <p:cNvSpPr/>
          <p:nvPr/>
        </p:nvSpPr>
        <p:spPr bwMode="auto">
          <a:xfrm>
            <a:off x="777240" y="352044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888822329" name="Shape 12"/>
          <p:cNvSpPr/>
          <p:nvPr/>
        </p:nvSpPr>
        <p:spPr bwMode="auto">
          <a:xfrm>
            <a:off x="1005840" y="3749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79727500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126541" y="3869740"/>
            <a:ext cx="261518" cy="261518"/>
          </a:xfrm>
          <a:prstGeom prst="rect">
            <a:avLst/>
          </a:prstGeom>
        </p:spPr>
      </p:pic>
      <p:sp>
        <p:nvSpPr>
          <p:cNvPr id="780445432" name="Text 13"/>
          <p:cNvSpPr/>
          <p:nvPr/>
        </p:nvSpPr>
        <p:spPr bwMode="auto">
          <a:xfrm>
            <a:off x="1673352" y="3703320"/>
            <a:ext cx="41605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Cloud Deployment</a:t>
            </a:r>
            <a:endParaRPr lang="en-US" sz="1400"/>
          </a:p>
        </p:txBody>
      </p:sp>
      <p:sp>
        <p:nvSpPr>
          <p:cNvPr id="48395595" name="Text 14"/>
          <p:cNvSpPr/>
          <p:nvPr/>
        </p:nvSpPr>
        <p:spPr bwMode="auto">
          <a:xfrm>
            <a:off x="1673352" y="4087368"/>
            <a:ext cx="416051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Host the system for remote, scalable interview access</a:t>
            </a:r>
            <a:endParaRPr lang="en-US" sz="1150"/>
          </a:p>
        </p:txBody>
      </p:sp>
      <p:sp>
        <p:nvSpPr>
          <p:cNvPr id="1253068193" name="Shape 15"/>
          <p:cNvSpPr/>
          <p:nvPr/>
        </p:nvSpPr>
        <p:spPr bwMode="auto">
          <a:xfrm>
            <a:off x="6400800" y="352044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EAF2FB"/>
          </a:solidFill>
          <a:ln/>
          <a:effectLst>
            <a:outerShdw blurRad="101600" dist="38100" dir="5400000" sx="100000" sy="100000" kx="0" ky="0" algn="bl" rotWithShape="0">
              <a:srgbClr val="1B2A3B">
                <a:alpha val="12000"/>
              </a:srgbClr>
            </a:outerShdw>
          </a:effectLst>
        </p:spPr>
      </p:sp>
      <p:sp>
        <p:nvSpPr>
          <p:cNvPr id="1314532350" name="Shape 16"/>
          <p:cNvSpPr/>
          <p:nvPr/>
        </p:nvSpPr>
        <p:spPr bwMode="auto">
          <a:xfrm>
            <a:off x="6629400" y="3749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47221580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750101" y="3869740"/>
            <a:ext cx="261518" cy="261518"/>
          </a:xfrm>
          <a:prstGeom prst="rect">
            <a:avLst/>
          </a:prstGeom>
        </p:spPr>
      </p:pic>
      <p:sp>
        <p:nvSpPr>
          <p:cNvPr id="842332976" name="Text 17"/>
          <p:cNvSpPr/>
          <p:nvPr/>
        </p:nvSpPr>
        <p:spPr bwMode="auto">
          <a:xfrm>
            <a:off x="7296912" y="3703320"/>
            <a:ext cx="41605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2395B"/>
                </a:solidFill>
                <a:latin typeface="Calibri"/>
                <a:ea typeface="Calibri"/>
                <a:cs typeface="Calibri"/>
              </a:rPr>
              <a:t>Mobile Application</a:t>
            </a:r>
            <a:endParaRPr lang="en-US" sz="1400"/>
          </a:p>
        </p:txBody>
      </p:sp>
      <p:sp>
        <p:nvSpPr>
          <p:cNvPr id="71955432" name="Text 18"/>
          <p:cNvSpPr/>
          <p:nvPr/>
        </p:nvSpPr>
        <p:spPr bwMode="auto">
          <a:xfrm>
            <a:off x="7296912" y="4087368"/>
            <a:ext cx="416051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C7186"/>
                </a:solidFill>
                <a:latin typeface="Calibri"/>
                <a:ea typeface="Calibri"/>
                <a:cs typeface="Calibri"/>
              </a:rPr>
              <a:t>Extend analysis to Android/iOS interview apps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0B203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279300" name="Shape 0"/>
          <p:cNvSpPr/>
          <p:nvPr/>
        </p:nvSpPr>
        <p:spPr bwMode="auto">
          <a:xfrm>
            <a:off x="5547208" y="1188720"/>
            <a:ext cx="1097280" cy="109728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78090985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10555" y="1452067"/>
            <a:ext cx="570586" cy="570586"/>
          </a:xfrm>
          <a:prstGeom prst="rect">
            <a:avLst/>
          </a:prstGeom>
        </p:spPr>
      </p:pic>
      <p:sp>
        <p:nvSpPr>
          <p:cNvPr id="301941261" name="Text 1"/>
          <p:cNvSpPr/>
          <p:nvPr/>
        </p:nvSpPr>
        <p:spPr bwMode="auto">
          <a:xfrm>
            <a:off x="1371600" y="265176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Thank You</a:t>
            </a:r>
            <a:endParaRPr lang="en-US" sz="4400"/>
          </a:p>
        </p:txBody>
      </p:sp>
      <p:sp>
        <p:nvSpPr>
          <p:cNvPr id="1574323695" name="Text 2"/>
          <p:cNvSpPr/>
          <p:nvPr/>
        </p:nvSpPr>
        <p:spPr bwMode="auto">
          <a:xfrm>
            <a:off x="1371600" y="361188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i="1">
                <a:solidFill>
                  <a:srgbClr val="BFD8F5"/>
                </a:solidFill>
                <a:latin typeface="Calibri"/>
                <a:ea typeface="Calibri"/>
                <a:cs typeface="Calibri"/>
              </a:rPr>
              <a:t>Questions &amp; Discussion</a:t>
            </a:r>
            <a:endParaRPr lang="en-US" sz="1800"/>
          </a:p>
        </p:txBody>
      </p:sp>
      <p:sp>
        <p:nvSpPr>
          <p:cNvPr id="1102280915" name="Shape 3"/>
          <p:cNvSpPr/>
          <p:nvPr/>
        </p:nvSpPr>
        <p:spPr bwMode="auto">
          <a:xfrm>
            <a:off x="4937760" y="4251960"/>
            <a:ext cx="231343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3</cp:revision>
  <dcterms:created xsi:type="dcterms:W3CDTF">2026-07-19T12:12:55Z</dcterms:created>
  <dcterms:modified xsi:type="dcterms:W3CDTF">2026-07-20T05:29:17Z</dcterms:modified>
</cp:coreProperties>
</file>